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GuessTheModel.com — the consumer-friendly, task-specific, gamified version of blind AI voting that doesn't exist yet. Lead with the game hook, not the data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credibility angle: even the best existing arena (Arena.ai, $1.7B valuation) has documented gaming problems. The Leaderboard Illusion paper found private testing and selective disclosure distort scores. Your moat is transparency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three-layer game is the key innovation over Arena. Voting is just step one. Guessing the model and predicting the crowd add personal stakes that make the reveal genuinely surprising and shareable.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 card is the viral loop. Four lines: what I picked, what I thought it was, how I did vs crowd, site name. That's the whole product in a share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Friday Roast Battle is your weekly growth driver. 'Which AI writes the least cringe LinkedIn post' will get shared to LinkedIn ironically. That's free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Arena's $1.7B valuation is your best sales pitch for why this market is real. You are not competing with Arena — you're building the consumer layer they never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SEO moat is not page count — it's data depth. 'Best AI for Reddit posts — 48,291 human votes, last updated today' is a page an AI Overview cannot replace. The live vote count and freshness are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OpenRouter is the key infrastructure decision. One integration, one bill, swap model versions by changing one line. When GPT-6 launches, you're live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licensing angle is the real long-term business. But don't pitch it until you have the votes. Affiliate income is real and immediate. No ads is a brand decision that compounds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$50 budget is real. Key insight: you pre-run battles and cache outputs in Supabase. Cost is per battle created, not per visitor. 1,000 battles could serve unlimited voters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list is prioritised for Cursor. Build the battle flow first — everything else depends on it working well. Don't build user accounts until you've proven people want to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context drop for Cursor. Stack, colors, data model, page structure, battle flow, methodology. Everything needed to start building without back-and-forth.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questions. This is a working document for getting feedback from Claude, ChatGPT, advisors, or potential collaborators. The questions are designed to surface real objections, not just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7223760" y="-1188720"/>
            <a:ext cx="3474720" cy="3474720"/>
          </a:xfrm>
          <a:prstGeom prst="ellipse">
            <a:avLst/>
          </a:prstGeom>
          <a:solidFill>
            <a:srgbClr val="C3F73A">
              <a:alpha val="12000"/>
            </a:srgbClr>
          </a:solidFill>
          <a:ln w="12700">
            <a:solidFill>
              <a:srgbClr val="C3F73A">
                <a:alpha val="35000"/>
              </a:srgbClr>
            </a:solidFill>
            <a:prstDash val="solid"/>
          </a:ln>
        </p:spPr>
      </p:sp>
      <p:sp>
        <p:nvSpPr>
          <p:cNvPr id="3" name="Shape 1"/>
          <p:cNvSpPr/>
          <p:nvPr/>
        </p:nvSpPr>
        <p:spPr>
          <a:xfrm>
            <a:off x="-1097280" y="3474720"/>
            <a:ext cx="2560320" cy="2560320"/>
          </a:xfrm>
          <a:prstGeom prst="ellipse">
            <a:avLst/>
          </a:prstGeom>
          <a:solidFill>
            <a:srgbClr val="C3F73A">
              <a:alpha val="8000"/>
            </a:srgbClr>
          </a:solidFill>
          <a:ln w="12700">
            <a:solidFill>
              <a:srgbClr val="C3F73A">
                <a:alpha val="25000"/>
              </a:srgbClr>
            </a:solidFill>
            <a:prstDash val="solid"/>
          </a:ln>
        </p:spPr>
      </p:sp>
      <p:sp>
        <p:nvSpPr>
          <p:cNvPr id="4" name="Text 2"/>
          <p:cNvSpPr/>
          <p:nvPr/>
        </p:nvSpPr>
        <p:spPr>
          <a:xfrm>
            <a:off x="594360" y="914400"/>
            <a:ext cx="7315200" cy="274320"/>
          </a:xfrm>
          <a:prstGeom prst="rect">
            <a:avLst/>
          </a:prstGeom>
          <a:noFill/>
          <a:ln/>
        </p:spPr>
        <p:txBody>
          <a:bodyPr wrap="square" lIns="0" tIns="0" rIns="0" bIns="0" rtlCol="0" anchor="ctr"/>
          <a:lstStyle/>
          <a:p>
            <a:pPr indent="0" marL="0">
              <a:buNone/>
            </a:pPr>
            <a:r>
              <a:rPr lang="en-US" sz="1000" b="1" spc="500" kern="0" dirty="0">
                <a:solidFill>
                  <a:srgbClr val="C3F73A"/>
                </a:solidFill>
              </a:rPr>
              <a:t>GUESSTHEMODEL.COM</a:t>
            </a:r>
            <a:endParaRPr lang="en-US" sz="1000" dirty="0"/>
          </a:p>
        </p:txBody>
      </p:sp>
      <p:sp>
        <p:nvSpPr>
          <p:cNvPr id="5" name="Text 3"/>
          <p:cNvSpPr/>
          <p:nvPr/>
        </p:nvSpPr>
        <p:spPr>
          <a:xfrm>
            <a:off x="594360" y="1298448"/>
            <a:ext cx="8229600" cy="1371600"/>
          </a:xfrm>
          <a:prstGeom prst="rect">
            <a:avLst/>
          </a:prstGeom>
          <a:noFill/>
          <a:ln/>
        </p:spPr>
        <p:txBody>
          <a:bodyPr wrap="square" lIns="0" tIns="0" rIns="0" bIns="0" rtlCol="0" anchor="ctr"/>
          <a:lstStyle/>
          <a:p>
            <a:pPr indent="0" marL="0">
              <a:buNone/>
            </a:pPr>
            <a:r>
              <a:rPr lang="en-US" sz="5200" b="1" dirty="0">
                <a:solidFill>
                  <a:srgbClr val="FFFFFF"/>
                </a:solidFill>
              </a:rPr>
              <a:t>Can you tell </a:t>
            </a:r>
            <a:pPr indent="0" marL="0">
              <a:buNone/>
            </a:pPr>
            <a:r>
              <a:rPr lang="en-US" sz="5200" b="1" i="1" dirty="0">
                <a:solidFill>
                  <a:srgbClr val="C3F73A"/>
                </a:solidFill>
              </a:rPr>
              <a:t>which AI</a:t>
            </a:r>
            <a:pPr indent="0" marL="0">
              <a:buNone/>
            </a:pPr>
            <a:r>
              <a:rPr lang="en-US" sz="5200" b="1" dirty="0">
                <a:solidFill>
                  <a:srgbClr val="FFFFFF"/>
                </a:solidFill>
              </a:rPr>
              <a:t> wrote it?</a:t>
            </a:r>
            <a:endParaRPr lang="en-US" sz="5200" dirty="0"/>
          </a:p>
        </p:txBody>
      </p:sp>
      <p:sp>
        <p:nvSpPr>
          <p:cNvPr id="6" name="Text 4"/>
          <p:cNvSpPr/>
          <p:nvPr/>
        </p:nvSpPr>
        <p:spPr>
          <a:xfrm>
            <a:off x="594360" y="2834640"/>
            <a:ext cx="6858000" cy="822960"/>
          </a:xfrm>
          <a:prstGeom prst="rect">
            <a:avLst/>
          </a:prstGeom>
          <a:noFill/>
          <a:ln/>
        </p:spPr>
        <p:txBody>
          <a:bodyPr wrap="square" lIns="0" tIns="0" rIns="0" bIns="0" rtlCol="0" anchor="ctr"/>
          <a:lstStyle/>
          <a:p>
            <a:pPr indent="0" marL="0">
              <a:lnSpc>
                <a:spcPct val="150000"/>
              </a:lnSpc>
              <a:buNone/>
            </a:pPr>
            <a:r>
              <a:rPr lang="en-US" sz="1500" dirty="0">
                <a:solidFill>
                  <a:srgbClr val="8B949E"/>
                </a:solidFill>
              </a:rPr>
              <a:t>Blind battles. Human votes. Daily streak.</a:t>
            </a:r>
            <a:endParaRPr lang="en-US" sz="1500" dirty="0"/>
          </a:p>
          <a:p>
            <a:pPr indent="0" marL="0">
              <a:lnSpc>
                <a:spcPct val="150000"/>
              </a:lnSpc>
              <a:buNone/>
            </a:pPr>
            <a:r>
              <a:rPr lang="en-US" sz="1500" dirty="0">
                <a:solidFill>
                  <a:srgbClr val="8B949E"/>
                </a:solidFill>
              </a:rPr>
              <a:t>Benchmarks are made by AI companies. This is made by people.</a:t>
            </a:r>
            <a:endParaRPr lang="en-US" sz="1500" dirty="0"/>
          </a:p>
        </p:txBody>
      </p:sp>
      <p:sp>
        <p:nvSpPr>
          <p:cNvPr id="7" name="Shape 5"/>
          <p:cNvSpPr/>
          <p:nvPr/>
        </p:nvSpPr>
        <p:spPr>
          <a:xfrm>
            <a:off x="594360" y="3931920"/>
            <a:ext cx="2606040" cy="868680"/>
          </a:xfrm>
          <a:prstGeom prst="roundRect">
            <a:avLst>
              <a:gd name="adj" fmla="val 9474"/>
            </a:avLst>
          </a:prstGeom>
          <a:solidFill>
            <a:srgbClr val="1C2128"/>
          </a:solidFill>
          <a:ln w="6350">
            <a:solidFill>
              <a:srgbClr val="30363D"/>
            </a:solidFill>
            <a:prstDash val="solid"/>
          </a:ln>
        </p:spPr>
      </p:sp>
      <p:sp>
        <p:nvSpPr>
          <p:cNvPr id="8" name="Text 6"/>
          <p:cNvSpPr/>
          <p:nvPr/>
        </p:nvSpPr>
        <p:spPr>
          <a:xfrm>
            <a:off x="594360" y="3968496"/>
            <a:ext cx="2606040" cy="347472"/>
          </a:xfrm>
          <a:prstGeom prst="rect">
            <a:avLst/>
          </a:prstGeom>
          <a:noFill/>
          <a:ln/>
        </p:spPr>
        <p:txBody>
          <a:bodyPr wrap="square" lIns="0" tIns="0" rIns="0" bIns="0" rtlCol="0" anchor="ctr"/>
          <a:lstStyle/>
          <a:p>
            <a:pPr algn="ctr" indent="0" marL="0">
              <a:buNone/>
            </a:pPr>
            <a:r>
              <a:rPr lang="en-US" sz="1500" b="1" dirty="0">
                <a:solidFill>
                  <a:srgbClr val="C3F73A"/>
                </a:solidFill>
              </a:rPr>
              <a:t>Daily game</a:t>
            </a:r>
            <a:endParaRPr lang="en-US" sz="1500" dirty="0"/>
          </a:p>
        </p:txBody>
      </p:sp>
      <p:sp>
        <p:nvSpPr>
          <p:cNvPr id="9" name="Text 7"/>
          <p:cNvSpPr/>
          <p:nvPr/>
        </p:nvSpPr>
        <p:spPr>
          <a:xfrm>
            <a:off x="594360" y="4297680"/>
            <a:ext cx="2606040" cy="256032"/>
          </a:xfrm>
          <a:prstGeom prst="rect">
            <a:avLst/>
          </a:prstGeom>
          <a:noFill/>
          <a:ln/>
        </p:spPr>
        <p:txBody>
          <a:bodyPr wrap="square" lIns="0" tIns="0" rIns="0" bIns="0" rtlCol="0" anchor="ctr"/>
          <a:lstStyle/>
          <a:p>
            <a:pPr algn="ctr" indent="0" marL="0">
              <a:buNone/>
            </a:pPr>
            <a:r>
              <a:rPr lang="en-US" sz="900" dirty="0">
                <a:solidFill>
                  <a:srgbClr val="8B949E"/>
                </a:solidFill>
              </a:rPr>
              <a:t>Vote · Guess · Reveal</a:t>
            </a:r>
            <a:endParaRPr lang="en-US" sz="900" dirty="0"/>
          </a:p>
        </p:txBody>
      </p:sp>
      <p:sp>
        <p:nvSpPr>
          <p:cNvPr id="10" name="Shape 8"/>
          <p:cNvSpPr/>
          <p:nvPr/>
        </p:nvSpPr>
        <p:spPr>
          <a:xfrm>
            <a:off x="3429000" y="3931920"/>
            <a:ext cx="2606040" cy="868680"/>
          </a:xfrm>
          <a:prstGeom prst="roundRect">
            <a:avLst>
              <a:gd name="adj" fmla="val 9474"/>
            </a:avLst>
          </a:prstGeom>
          <a:solidFill>
            <a:srgbClr val="1C2128"/>
          </a:solidFill>
          <a:ln w="6350">
            <a:solidFill>
              <a:srgbClr val="30363D"/>
            </a:solidFill>
            <a:prstDash val="solid"/>
          </a:ln>
        </p:spPr>
      </p:sp>
      <p:sp>
        <p:nvSpPr>
          <p:cNvPr id="11" name="Text 9"/>
          <p:cNvSpPr/>
          <p:nvPr/>
        </p:nvSpPr>
        <p:spPr>
          <a:xfrm>
            <a:off x="3429000" y="3968496"/>
            <a:ext cx="2606040" cy="347472"/>
          </a:xfrm>
          <a:prstGeom prst="rect">
            <a:avLst/>
          </a:prstGeom>
          <a:noFill/>
          <a:ln/>
        </p:spPr>
        <p:txBody>
          <a:bodyPr wrap="square" lIns="0" tIns="0" rIns="0" bIns="0" rtlCol="0" anchor="ctr"/>
          <a:lstStyle/>
          <a:p>
            <a:pPr algn="ctr" indent="0" marL="0">
              <a:buNone/>
            </a:pPr>
            <a:r>
              <a:rPr lang="en-US" sz="1500" b="1" dirty="0">
                <a:solidFill>
                  <a:srgbClr val="C3F73A"/>
                </a:solidFill>
              </a:rPr>
              <a:t>5 models</a:t>
            </a:r>
            <a:endParaRPr lang="en-US" sz="1500" dirty="0"/>
          </a:p>
        </p:txBody>
      </p:sp>
      <p:sp>
        <p:nvSpPr>
          <p:cNvPr id="12" name="Text 10"/>
          <p:cNvSpPr/>
          <p:nvPr/>
        </p:nvSpPr>
        <p:spPr>
          <a:xfrm>
            <a:off x="3429000" y="4297680"/>
            <a:ext cx="2606040" cy="256032"/>
          </a:xfrm>
          <a:prstGeom prst="rect">
            <a:avLst/>
          </a:prstGeom>
          <a:noFill/>
          <a:ln/>
        </p:spPr>
        <p:txBody>
          <a:bodyPr wrap="square" lIns="0" tIns="0" rIns="0" bIns="0" rtlCol="0" anchor="ctr"/>
          <a:lstStyle/>
          <a:p>
            <a:pPr algn="ctr" indent="0" marL="0">
              <a:buNone/>
            </a:pPr>
            <a:r>
              <a:rPr lang="en-US" sz="900" dirty="0">
                <a:solidFill>
                  <a:srgbClr val="8B949E"/>
                </a:solidFill>
              </a:rPr>
              <a:t>Claude · GPT · Gemini · Grok · Perplexity</a:t>
            </a:r>
            <a:endParaRPr lang="en-US" sz="900" dirty="0"/>
          </a:p>
        </p:txBody>
      </p:sp>
      <p:sp>
        <p:nvSpPr>
          <p:cNvPr id="13" name="Shape 11"/>
          <p:cNvSpPr/>
          <p:nvPr/>
        </p:nvSpPr>
        <p:spPr>
          <a:xfrm>
            <a:off x="6263640" y="3931920"/>
            <a:ext cx="2606040" cy="868680"/>
          </a:xfrm>
          <a:prstGeom prst="roundRect">
            <a:avLst>
              <a:gd name="adj" fmla="val 9474"/>
            </a:avLst>
          </a:prstGeom>
          <a:solidFill>
            <a:srgbClr val="1C2128"/>
          </a:solidFill>
          <a:ln w="6350">
            <a:solidFill>
              <a:srgbClr val="30363D"/>
            </a:solidFill>
            <a:prstDash val="solid"/>
          </a:ln>
        </p:spPr>
      </p:sp>
      <p:sp>
        <p:nvSpPr>
          <p:cNvPr id="14" name="Text 12"/>
          <p:cNvSpPr/>
          <p:nvPr/>
        </p:nvSpPr>
        <p:spPr>
          <a:xfrm>
            <a:off x="6263640" y="3968496"/>
            <a:ext cx="2606040" cy="347472"/>
          </a:xfrm>
          <a:prstGeom prst="rect">
            <a:avLst/>
          </a:prstGeom>
          <a:noFill/>
          <a:ln/>
        </p:spPr>
        <p:txBody>
          <a:bodyPr wrap="square" lIns="0" tIns="0" rIns="0" bIns="0" rtlCol="0" anchor="ctr"/>
          <a:lstStyle/>
          <a:p>
            <a:pPr algn="ctr" indent="0" marL="0">
              <a:buNone/>
            </a:pPr>
            <a:r>
              <a:rPr lang="en-US" sz="1500" b="1" dirty="0">
                <a:solidFill>
                  <a:srgbClr val="C3F73A"/>
                </a:solidFill>
              </a:rPr>
              <a:t>$50/mo</a:t>
            </a:r>
            <a:endParaRPr lang="en-US" sz="1500" dirty="0"/>
          </a:p>
        </p:txBody>
      </p:sp>
      <p:sp>
        <p:nvSpPr>
          <p:cNvPr id="15" name="Text 13"/>
          <p:cNvSpPr/>
          <p:nvPr/>
        </p:nvSpPr>
        <p:spPr>
          <a:xfrm>
            <a:off x="6263640" y="4297680"/>
            <a:ext cx="2606040" cy="256032"/>
          </a:xfrm>
          <a:prstGeom prst="rect">
            <a:avLst/>
          </a:prstGeom>
          <a:noFill/>
          <a:ln/>
        </p:spPr>
        <p:txBody>
          <a:bodyPr wrap="square" lIns="0" tIns="0" rIns="0" bIns="0" rtlCol="0" anchor="ctr"/>
          <a:lstStyle/>
          <a:p>
            <a:pPr algn="ctr" indent="0" marL="0">
              <a:buNone/>
            </a:pPr>
            <a:r>
              <a:rPr lang="en-US" sz="900" dirty="0">
                <a:solidFill>
                  <a:srgbClr val="8B949E"/>
                </a:solidFill>
              </a:rPr>
              <a:t>Total operating budget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THE PROBLEM</a:t>
            </a:r>
            <a:endParaRPr lang="en-US" sz="1000" dirty="0"/>
          </a:p>
        </p:txBody>
      </p:sp>
      <p:sp>
        <p:nvSpPr>
          <p:cNvPr id="3" name="Text 1"/>
          <p:cNvSpPr/>
          <p:nvPr/>
        </p:nvSpPr>
        <p:spPr>
          <a:xfrm>
            <a:off x="594360" y="658368"/>
            <a:ext cx="7772400" cy="1188720"/>
          </a:xfrm>
          <a:prstGeom prst="rect">
            <a:avLst/>
          </a:prstGeom>
          <a:noFill/>
          <a:ln/>
        </p:spPr>
        <p:txBody>
          <a:bodyPr wrap="square" lIns="0" tIns="0" rIns="0" bIns="0" rtlCol="0" anchor="ctr"/>
          <a:lstStyle/>
          <a:p>
            <a:pPr indent="0" marL="0">
              <a:lnSpc>
                <a:spcPct val="120000"/>
              </a:lnSpc>
              <a:buNone/>
            </a:pPr>
            <a:r>
              <a:rPr lang="en-US" sz="3800" b="1" dirty="0">
                <a:solidFill>
                  <a:srgbClr val="FFFFFF"/>
                </a:solidFill>
              </a:rPr>
              <a:t>Benchmarks are gamed.</a:t>
            </a:r>
            <a:endParaRPr lang="en-US" sz="3800" dirty="0"/>
          </a:p>
          <a:p>
            <a:pPr indent="0" marL="0">
              <a:lnSpc>
                <a:spcPct val="120000"/>
              </a:lnSpc>
              <a:buNone/>
            </a:pPr>
            <a:r>
              <a:rPr lang="en-US" sz="3800" b="1" dirty="0">
                <a:solidFill>
                  <a:srgbClr val="FFFFFF"/>
                </a:solidFill>
              </a:rPr>
              <a:t>Nobody trusts them.</a:t>
            </a:r>
            <a:endParaRPr lang="en-US" sz="3800" dirty="0"/>
          </a:p>
        </p:txBody>
      </p:sp>
      <p:sp>
        <p:nvSpPr>
          <p:cNvPr id="4" name="Shape 2"/>
          <p:cNvSpPr/>
          <p:nvPr/>
        </p:nvSpPr>
        <p:spPr>
          <a:xfrm>
            <a:off x="502920" y="2011680"/>
            <a:ext cx="4023360" cy="1261872"/>
          </a:xfrm>
          <a:prstGeom prst="roundRect">
            <a:avLst>
              <a:gd name="adj" fmla="val 6522"/>
            </a:avLst>
          </a:prstGeom>
          <a:solidFill>
            <a:srgbClr val="1C2128"/>
          </a:solidFill>
          <a:ln w="6350">
            <a:solidFill>
              <a:srgbClr val="30363D"/>
            </a:solidFill>
            <a:prstDash val="solid"/>
          </a:ln>
        </p:spPr>
      </p:sp>
      <p:sp>
        <p:nvSpPr>
          <p:cNvPr id="5" name="Text 3"/>
          <p:cNvSpPr/>
          <p:nvPr/>
        </p:nvSpPr>
        <p:spPr>
          <a:xfrm>
            <a:off x="667512" y="2121408"/>
            <a:ext cx="3657600" cy="274320"/>
          </a:xfrm>
          <a:prstGeom prst="rect">
            <a:avLst/>
          </a:prstGeom>
          <a:noFill/>
          <a:ln/>
        </p:spPr>
        <p:txBody>
          <a:bodyPr wrap="square" lIns="0" tIns="0" rIns="0" bIns="0" rtlCol="0" anchor="ctr"/>
          <a:lstStyle/>
          <a:p>
            <a:pPr indent="0" marL="0">
              <a:buNone/>
            </a:pPr>
            <a:r>
              <a:rPr lang="en-US" sz="1300" b="1" dirty="0">
                <a:solidFill>
                  <a:srgbClr val="FFFFFF"/>
                </a:solidFill>
              </a:rPr>
              <a:t>⚡  Benchmarks are theater</a:t>
            </a:r>
            <a:endParaRPr lang="en-US" sz="1300" dirty="0"/>
          </a:p>
        </p:txBody>
      </p:sp>
      <p:sp>
        <p:nvSpPr>
          <p:cNvPr id="6" name="Text 4"/>
          <p:cNvSpPr/>
          <p:nvPr/>
        </p:nvSpPr>
        <p:spPr>
          <a:xfrm>
            <a:off x="667512" y="2432304"/>
            <a:ext cx="3657600" cy="713232"/>
          </a:xfrm>
          <a:prstGeom prst="rect">
            <a:avLst/>
          </a:prstGeom>
          <a:noFill/>
          <a:ln/>
        </p:spPr>
        <p:txBody>
          <a:bodyPr wrap="square" lIns="0" tIns="0" rIns="0" bIns="0" rtlCol="0" anchor="ctr"/>
          <a:lstStyle/>
          <a:p>
            <a:pPr indent="0" marL="0">
              <a:lnSpc>
                <a:spcPct val="138000"/>
              </a:lnSpc>
              <a:buNone/>
            </a:pPr>
            <a:r>
              <a:rPr lang="en-US" sz="1100" dirty="0">
                <a:solidFill>
                  <a:srgbClr val="8B949E"/>
                </a:solidFill>
              </a:rPr>
              <a:t>Meta's Llama 4 was caught submitting a specially tuned version to Arena that didn't match the public model. Others probably haven't been caught yet.</a:t>
            </a:r>
            <a:endParaRPr lang="en-US" sz="1100" dirty="0"/>
          </a:p>
        </p:txBody>
      </p:sp>
      <p:sp>
        <p:nvSpPr>
          <p:cNvPr id="7" name="Shape 5"/>
          <p:cNvSpPr/>
          <p:nvPr/>
        </p:nvSpPr>
        <p:spPr>
          <a:xfrm>
            <a:off x="4800600" y="2011680"/>
            <a:ext cx="4023360" cy="1261872"/>
          </a:xfrm>
          <a:prstGeom prst="roundRect">
            <a:avLst>
              <a:gd name="adj" fmla="val 6522"/>
            </a:avLst>
          </a:prstGeom>
          <a:solidFill>
            <a:srgbClr val="1C2128"/>
          </a:solidFill>
          <a:ln w="6350">
            <a:solidFill>
              <a:srgbClr val="30363D"/>
            </a:solidFill>
            <a:prstDash val="solid"/>
          </a:ln>
        </p:spPr>
      </p:sp>
      <p:sp>
        <p:nvSpPr>
          <p:cNvPr id="8" name="Text 6"/>
          <p:cNvSpPr/>
          <p:nvPr/>
        </p:nvSpPr>
        <p:spPr>
          <a:xfrm>
            <a:off x="4965192" y="2121408"/>
            <a:ext cx="3657600" cy="274320"/>
          </a:xfrm>
          <a:prstGeom prst="rect">
            <a:avLst/>
          </a:prstGeom>
          <a:noFill/>
          <a:ln/>
        </p:spPr>
        <p:txBody>
          <a:bodyPr wrap="square" lIns="0" tIns="0" rIns="0" bIns="0" rtlCol="0" anchor="ctr"/>
          <a:lstStyle/>
          <a:p>
            <a:pPr indent="0" marL="0">
              <a:buNone/>
            </a:pPr>
            <a:r>
              <a:rPr lang="en-US" sz="1300" b="1" dirty="0">
                <a:solidFill>
                  <a:srgbClr val="FFFFFF"/>
                </a:solidFill>
              </a:rPr>
              <a:t>🧠  Brand bias corrupts votes</a:t>
            </a:r>
            <a:endParaRPr lang="en-US" sz="1300" dirty="0"/>
          </a:p>
        </p:txBody>
      </p:sp>
      <p:sp>
        <p:nvSpPr>
          <p:cNvPr id="9" name="Text 7"/>
          <p:cNvSpPr/>
          <p:nvPr/>
        </p:nvSpPr>
        <p:spPr>
          <a:xfrm>
            <a:off x="4965192" y="2432304"/>
            <a:ext cx="3657600" cy="713232"/>
          </a:xfrm>
          <a:prstGeom prst="rect">
            <a:avLst/>
          </a:prstGeom>
          <a:noFill/>
          <a:ln/>
        </p:spPr>
        <p:txBody>
          <a:bodyPr wrap="square" lIns="0" tIns="0" rIns="0" bIns="0" rtlCol="0" anchor="ctr"/>
          <a:lstStyle/>
          <a:p>
            <a:pPr indent="0" marL="0">
              <a:lnSpc>
                <a:spcPct val="138000"/>
              </a:lnSpc>
              <a:buNone/>
            </a:pPr>
            <a:r>
              <a:rPr lang="en-US" sz="1100" dirty="0">
                <a:solidFill>
                  <a:srgbClr val="8B949E"/>
                </a:solidFill>
              </a:rPr>
              <a:t>Users vote differently when they can see model names. They assume Claude wins writing, ChatGPT wins general tasks — before reading a word.</a:t>
            </a:r>
            <a:endParaRPr lang="en-US" sz="1100" dirty="0"/>
          </a:p>
        </p:txBody>
      </p:sp>
      <p:sp>
        <p:nvSpPr>
          <p:cNvPr id="10" name="Shape 8"/>
          <p:cNvSpPr/>
          <p:nvPr/>
        </p:nvSpPr>
        <p:spPr>
          <a:xfrm>
            <a:off x="502920" y="3429000"/>
            <a:ext cx="4023360" cy="1261872"/>
          </a:xfrm>
          <a:prstGeom prst="roundRect">
            <a:avLst>
              <a:gd name="adj" fmla="val 6522"/>
            </a:avLst>
          </a:prstGeom>
          <a:solidFill>
            <a:srgbClr val="1C2128"/>
          </a:solidFill>
          <a:ln w="6350">
            <a:solidFill>
              <a:srgbClr val="30363D"/>
            </a:solidFill>
            <a:prstDash val="solid"/>
          </a:ln>
        </p:spPr>
      </p:sp>
      <p:sp>
        <p:nvSpPr>
          <p:cNvPr id="11" name="Text 9"/>
          <p:cNvSpPr/>
          <p:nvPr/>
        </p:nvSpPr>
        <p:spPr>
          <a:xfrm>
            <a:off x="667512" y="3538728"/>
            <a:ext cx="3657600" cy="274320"/>
          </a:xfrm>
          <a:prstGeom prst="rect">
            <a:avLst/>
          </a:prstGeom>
          <a:noFill/>
          <a:ln/>
        </p:spPr>
        <p:txBody>
          <a:bodyPr wrap="square" lIns="0" tIns="0" rIns="0" bIns="0" rtlCol="0" anchor="ctr"/>
          <a:lstStyle/>
          <a:p>
            <a:pPr indent="0" marL="0">
              <a:buNone/>
            </a:pPr>
            <a:r>
              <a:rPr lang="en-US" sz="1300" b="1" dirty="0">
                <a:solidFill>
                  <a:srgbClr val="FFFFFF"/>
                </a:solidFill>
              </a:rPr>
              <a:t>🎯  No task-specific truth</a:t>
            </a:r>
            <a:endParaRPr lang="en-US" sz="1300" dirty="0"/>
          </a:p>
        </p:txBody>
      </p:sp>
      <p:sp>
        <p:nvSpPr>
          <p:cNvPr id="12" name="Text 10"/>
          <p:cNvSpPr/>
          <p:nvPr/>
        </p:nvSpPr>
        <p:spPr>
          <a:xfrm>
            <a:off x="667512" y="3849624"/>
            <a:ext cx="3657600" cy="713232"/>
          </a:xfrm>
          <a:prstGeom prst="rect">
            <a:avLst/>
          </a:prstGeom>
          <a:noFill/>
          <a:ln/>
        </p:spPr>
        <p:txBody>
          <a:bodyPr wrap="square" lIns="0" tIns="0" rIns="0" bIns="0" rtlCol="0" anchor="ctr"/>
          <a:lstStyle/>
          <a:p>
            <a:pPr indent="0" marL="0">
              <a:lnSpc>
                <a:spcPct val="138000"/>
              </a:lnSpc>
              <a:buNone/>
            </a:pPr>
            <a:r>
              <a:rPr lang="en-US" sz="1100" dirty="0">
                <a:solidFill>
                  <a:srgbClr val="8B949E"/>
                </a:solidFill>
              </a:rPr>
              <a:t>'Best AI for coding' doesn't tell you which model wins at fixing a Supabase RLS error vs explaining a stack trace. Too generic to act on.</a:t>
            </a:r>
            <a:endParaRPr lang="en-US" sz="1100" dirty="0"/>
          </a:p>
        </p:txBody>
      </p:sp>
      <p:sp>
        <p:nvSpPr>
          <p:cNvPr id="13" name="Shape 11"/>
          <p:cNvSpPr/>
          <p:nvPr/>
        </p:nvSpPr>
        <p:spPr>
          <a:xfrm>
            <a:off x="4800600" y="3429000"/>
            <a:ext cx="4023360" cy="1261872"/>
          </a:xfrm>
          <a:prstGeom prst="roundRect">
            <a:avLst>
              <a:gd name="adj" fmla="val 6522"/>
            </a:avLst>
          </a:prstGeom>
          <a:solidFill>
            <a:srgbClr val="1C2128"/>
          </a:solidFill>
          <a:ln w="6350">
            <a:solidFill>
              <a:srgbClr val="30363D"/>
            </a:solidFill>
            <a:prstDash val="solid"/>
          </a:ln>
        </p:spPr>
      </p:sp>
      <p:sp>
        <p:nvSpPr>
          <p:cNvPr id="14" name="Text 12"/>
          <p:cNvSpPr/>
          <p:nvPr/>
        </p:nvSpPr>
        <p:spPr>
          <a:xfrm>
            <a:off x="4965192" y="3538728"/>
            <a:ext cx="3657600" cy="274320"/>
          </a:xfrm>
          <a:prstGeom prst="rect">
            <a:avLst/>
          </a:prstGeom>
          <a:noFill/>
          <a:ln/>
        </p:spPr>
        <p:txBody>
          <a:bodyPr wrap="square" lIns="0" tIns="0" rIns="0" bIns="0" rtlCol="0" anchor="ctr"/>
          <a:lstStyle/>
          <a:p>
            <a:pPr indent="0" marL="0">
              <a:buNone/>
            </a:pPr>
            <a:r>
              <a:rPr lang="en-US" sz="1300" b="1" dirty="0">
                <a:solidFill>
                  <a:srgbClr val="FFFFFF"/>
                </a:solidFill>
              </a:rPr>
              <a:t>📉  Static content rots fast</a:t>
            </a:r>
            <a:endParaRPr lang="en-US" sz="1300" dirty="0"/>
          </a:p>
        </p:txBody>
      </p:sp>
      <p:sp>
        <p:nvSpPr>
          <p:cNvPr id="15" name="Text 13"/>
          <p:cNvSpPr/>
          <p:nvPr/>
        </p:nvSpPr>
        <p:spPr>
          <a:xfrm>
            <a:off x="4965192" y="3849624"/>
            <a:ext cx="3657600" cy="713232"/>
          </a:xfrm>
          <a:prstGeom prst="rect">
            <a:avLst/>
          </a:prstGeom>
          <a:noFill/>
          <a:ln/>
        </p:spPr>
        <p:txBody>
          <a:bodyPr wrap="square" lIns="0" tIns="0" rIns="0" bIns="0" rtlCol="0" anchor="ctr"/>
          <a:lstStyle/>
          <a:p>
            <a:pPr indent="0" marL="0">
              <a:lnSpc>
                <a:spcPct val="138000"/>
              </a:lnSpc>
              <a:buNone/>
            </a:pPr>
            <a:r>
              <a:rPr lang="en-US" sz="1100" dirty="0">
                <a:solidFill>
                  <a:srgbClr val="8B949E"/>
                </a:solidFill>
              </a:rPr>
              <a:t>AI model quality shifts every few weeks. A 'best AI' article from 3 months ago is already misleading — and most of them are.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THE GAME LOOP</a:t>
            </a:r>
            <a:endParaRPr lang="en-US" sz="1000" dirty="0"/>
          </a:p>
        </p:txBody>
      </p:sp>
      <p:sp>
        <p:nvSpPr>
          <p:cNvPr id="3" name="Text 1"/>
          <p:cNvSpPr/>
          <p:nvPr/>
        </p:nvSpPr>
        <p:spPr>
          <a:xfrm>
            <a:off x="594360" y="658368"/>
            <a:ext cx="8229600" cy="594360"/>
          </a:xfrm>
          <a:prstGeom prst="rect">
            <a:avLst/>
          </a:prstGeom>
          <a:noFill/>
          <a:ln/>
        </p:spPr>
        <p:txBody>
          <a:bodyPr wrap="square" lIns="0" tIns="0" rIns="0" bIns="0" rtlCol="0" anchor="ctr"/>
          <a:lstStyle/>
          <a:p>
            <a:pPr indent="0" marL="0">
              <a:buNone/>
            </a:pPr>
            <a:r>
              <a:rPr lang="en-US" sz="2800" b="1" dirty="0">
                <a:solidFill>
                  <a:srgbClr val="FFFFFF"/>
                </a:solidFill>
              </a:rPr>
              <a:t>Vote → Guess → Predict → Reveal → Streak</a:t>
            </a:r>
            <a:endParaRPr lang="en-US" sz="2800" dirty="0"/>
          </a:p>
        </p:txBody>
      </p:sp>
      <p:sp>
        <p:nvSpPr>
          <p:cNvPr id="4" name="Shape 2"/>
          <p:cNvSpPr/>
          <p:nvPr/>
        </p:nvSpPr>
        <p:spPr>
          <a:xfrm>
            <a:off x="411480" y="1463040"/>
            <a:ext cx="1536192" cy="3383280"/>
          </a:xfrm>
          <a:prstGeom prst="roundRect">
            <a:avLst>
              <a:gd name="adj" fmla="val 5357"/>
            </a:avLst>
          </a:prstGeom>
          <a:solidFill>
            <a:srgbClr val="1C2128"/>
          </a:solidFill>
          <a:ln w="6350">
            <a:solidFill>
              <a:srgbClr val="30363D"/>
            </a:solidFill>
            <a:prstDash val="solid"/>
          </a:ln>
        </p:spPr>
      </p:sp>
      <p:sp>
        <p:nvSpPr>
          <p:cNvPr id="5" name="Text 3"/>
          <p:cNvSpPr/>
          <p:nvPr/>
        </p:nvSpPr>
        <p:spPr>
          <a:xfrm>
            <a:off x="411480" y="1572768"/>
            <a:ext cx="1536192" cy="384048"/>
          </a:xfrm>
          <a:prstGeom prst="rect">
            <a:avLst/>
          </a:prstGeom>
          <a:noFill/>
          <a:ln/>
        </p:spPr>
        <p:txBody>
          <a:bodyPr wrap="square" lIns="0" tIns="0" rIns="0" bIns="0" rtlCol="0" anchor="ctr"/>
          <a:lstStyle/>
          <a:p>
            <a:pPr algn="ctr" indent="0" marL="0">
              <a:buNone/>
            </a:pPr>
            <a:r>
              <a:rPr lang="en-US" sz="2000" b="1" dirty="0">
                <a:solidFill>
                  <a:srgbClr val="C3F73A"/>
                </a:solidFill>
              </a:rPr>
              <a:t>01</a:t>
            </a:r>
            <a:endParaRPr lang="en-US" sz="2000" dirty="0"/>
          </a:p>
        </p:txBody>
      </p:sp>
      <p:sp>
        <p:nvSpPr>
          <p:cNvPr id="6" name="Text 4"/>
          <p:cNvSpPr/>
          <p:nvPr/>
        </p:nvSpPr>
        <p:spPr>
          <a:xfrm>
            <a:off x="502920" y="199339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rPr>
              <a:t>Vote blind</a:t>
            </a:r>
            <a:endParaRPr lang="en-US" sz="1100" dirty="0"/>
          </a:p>
        </p:txBody>
      </p:sp>
      <p:sp>
        <p:nvSpPr>
          <p:cNvPr id="7" name="Shape 5"/>
          <p:cNvSpPr/>
          <p:nvPr/>
        </p:nvSpPr>
        <p:spPr>
          <a:xfrm>
            <a:off x="521208" y="2395728"/>
            <a:ext cx="1316736" cy="0"/>
          </a:xfrm>
          <a:prstGeom prst="line">
            <a:avLst/>
          </a:prstGeom>
          <a:noFill/>
          <a:ln w="6350">
            <a:solidFill>
              <a:srgbClr val="30363D"/>
            </a:solidFill>
            <a:prstDash val="solid"/>
          </a:ln>
        </p:spPr>
      </p:sp>
      <p:sp>
        <p:nvSpPr>
          <p:cNvPr id="8" name="Text 6"/>
          <p:cNvSpPr/>
          <p:nvPr/>
        </p:nvSpPr>
        <p:spPr>
          <a:xfrm>
            <a:off x="502920" y="2487168"/>
            <a:ext cx="1353312" cy="2148840"/>
          </a:xfrm>
          <a:prstGeom prst="rect">
            <a:avLst/>
          </a:prstGeom>
          <a:noFill/>
          <a:ln/>
        </p:spPr>
        <p:txBody>
          <a:bodyPr wrap="square" lIns="0" tIns="0" rIns="0" bIns="0" rtlCol="0" anchor="ctr"/>
          <a:lstStyle/>
          <a:p>
            <a:pPr algn="ctr" indent="0" marL="0">
              <a:lnSpc>
                <a:spcPct val="140000"/>
              </a:lnSpc>
              <a:buNone/>
            </a:pPr>
            <a:r>
              <a:rPr lang="en-US" sz="950" dirty="0">
                <a:solidFill>
                  <a:srgbClr val="8B949E"/>
                </a:solidFill>
              </a:rPr>
              <a:t>See Model A vs Model B. No names. Pick the better output — or 'Both are bad.' Same prompt, same temp, same length, position randomised.</a:t>
            </a:r>
            <a:endParaRPr lang="en-US" sz="950" dirty="0"/>
          </a:p>
        </p:txBody>
      </p:sp>
      <p:sp>
        <p:nvSpPr>
          <p:cNvPr id="9" name="Shape 7"/>
          <p:cNvSpPr/>
          <p:nvPr/>
        </p:nvSpPr>
        <p:spPr>
          <a:xfrm>
            <a:off x="2093976" y="1463040"/>
            <a:ext cx="1536192" cy="3383280"/>
          </a:xfrm>
          <a:prstGeom prst="roundRect">
            <a:avLst>
              <a:gd name="adj" fmla="val 5357"/>
            </a:avLst>
          </a:prstGeom>
          <a:solidFill>
            <a:srgbClr val="1C2128"/>
          </a:solidFill>
          <a:ln w="6350">
            <a:solidFill>
              <a:srgbClr val="30363D"/>
            </a:solidFill>
            <a:prstDash val="solid"/>
          </a:ln>
        </p:spPr>
      </p:sp>
      <p:sp>
        <p:nvSpPr>
          <p:cNvPr id="10" name="Text 8"/>
          <p:cNvSpPr/>
          <p:nvPr/>
        </p:nvSpPr>
        <p:spPr>
          <a:xfrm>
            <a:off x="2093976" y="1572768"/>
            <a:ext cx="1536192" cy="384048"/>
          </a:xfrm>
          <a:prstGeom prst="rect">
            <a:avLst/>
          </a:prstGeom>
          <a:noFill/>
          <a:ln/>
        </p:spPr>
        <p:txBody>
          <a:bodyPr wrap="square" lIns="0" tIns="0" rIns="0" bIns="0" rtlCol="0" anchor="ctr"/>
          <a:lstStyle/>
          <a:p>
            <a:pPr algn="ctr" indent="0" marL="0">
              <a:buNone/>
            </a:pPr>
            <a:r>
              <a:rPr lang="en-US" sz="2000" b="1" dirty="0">
                <a:solidFill>
                  <a:srgbClr val="C3F73A"/>
                </a:solidFill>
              </a:rPr>
              <a:t>02</a:t>
            </a:r>
            <a:endParaRPr lang="en-US" sz="2000" dirty="0"/>
          </a:p>
        </p:txBody>
      </p:sp>
      <p:sp>
        <p:nvSpPr>
          <p:cNvPr id="11" name="Text 9"/>
          <p:cNvSpPr/>
          <p:nvPr/>
        </p:nvSpPr>
        <p:spPr>
          <a:xfrm>
            <a:off x="2185416" y="199339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rPr>
              <a:t>Guess the model</a:t>
            </a:r>
            <a:endParaRPr lang="en-US" sz="1100" dirty="0"/>
          </a:p>
        </p:txBody>
      </p:sp>
      <p:sp>
        <p:nvSpPr>
          <p:cNvPr id="12" name="Shape 10"/>
          <p:cNvSpPr/>
          <p:nvPr/>
        </p:nvSpPr>
        <p:spPr>
          <a:xfrm>
            <a:off x="2203704" y="2395728"/>
            <a:ext cx="1316736" cy="0"/>
          </a:xfrm>
          <a:prstGeom prst="line">
            <a:avLst/>
          </a:prstGeom>
          <a:noFill/>
          <a:ln w="6350">
            <a:solidFill>
              <a:srgbClr val="30363D"/>
            </a:solidFill>
            <a:prstDash val="solid"/>
          </a:ln>
        </p:spPr>
      </p:sp>
      <p:sp>
        <p:nvSpPr>
          <p:cNvPr id="13" name="Text 11"/>
          <p:cNvSpPr/>
          <p:nvPr/>
        </p:nvSpPr>
        <p:spPr>
          <a:xfrm>
            <a:off x="2185416" y="2487168"/>
            <a:ext cx="1353312" cy="2148840"/>
          </a:xfrm>
          <a:prstGeom prst="rect">
            <a:avLst/>
          </a:prstGeom>
          <a:noFill/>
          <a:ln/>
        </p:spPr>
        <p:txBody>
          <a:bodyPr wrap="square" lIns="0" tIns="0" rIns="0" bIns="0" rtlCol="0" anchor="ctr"/>
          <a:lstStyle/>
          <a:p>
            <a:pPr algn="ctr" indent="0" marL="0">
              <a:lnSpc>
                <a:spcPct val="140000"/>
              </a:lnSpc>
              <a:buNone/>
            </a:pPr>
            <a:r>
              <a:rPr lang="en-US" sz="950" dirty="0">
                <a:solidFill>
                  <a:srgbClr val="8B949E"/>
                </a:solidFill>
              </a:rPr>
              <a:t>Which AI do you think wrote your pick? ChatGPT · Claude · Gemini · Grok · Perplexity. Now you're emotionally invested in the reveal.</a:t>
            </a:r>
            <a:endParaRPr lang="en-US" sz="950" dirty="0"/>
          </a:p>
        </p:txBody>
      </p:sp>
      <p:sp>
        <p:nvSpPr>
          <p:cNvPr id="14" name="Shape 12"/>
          <p:cNvSpPr/>
          <p:nvPr/>
        </p:nvSpPr>
        <p:spPr>
          <a:xfrm>
            <a:off x="3776472" y="1463040"/>
            <a:ext cx="1536192" cy="3383280"/>
          </a:xfrm>
          <a:prstGeom prst="roundRect">
            <a:avLst>
              <a:gd name="adj" fmla="val 5357"/>
            </a:avLst>
          </a:prstGeom>
          <a:solidFill>
            <a:srgbClr val="1C2128"/>
          </a:solidFill>
          <a:ln w="6350">
            <a:solidFill>
              <a:srgbClr val="30363D"/>
            </a:solidFill>
            <a:prstDash val="solid"/>
          </a:ln>
        </p:spPr>
      </p:sp>
      <p:sp>
        <p:nvSpPr>
          <p:cNvPr id="15" name="Text 13"/>
          <p:cNvSpPr/>
          <p:nvPr/>
        </p:nvSpPr>
        <p:spPr>
          <a:xfrm>
            <a:off x="3776472" y="1572768"/>
            <a:ext cx="1536192" cy="384048"/>
          </a:xfrm>
          <a:prstGeom prst="rect">
            <a:avLst/>
          </a:prstGeom>
          <a:noFill/>
          <a:ln/>
        </p:spPr>
        <p:txBody>
          <a:bodyPr wrap="square" lIns="0" tIns="0" rIns="0" bIns="0" rtlCol="0" anchor="ctr"/>
          <a:lstStyle/>
          <a:p>
            <a:pPr algn="ctr" indent="0" marL="0">
              <a:buNone/>
            </a:pPr>
            <a:r>
              <a:rPr lang="en-US" sz="2000" b="1" dirty="0">
                <a:solidFill>
                  <a:srgbClr val="C3F73A"/>
                </a:solidFill>
              </a:rPr>
              <a:t>03</a:t>
            </a:r>
            <a:endParaRPr lang="en-US" sz="2000" dirty="0"/>
          </a:p>
        </p:txBody>
      </p:sp>
      <p:sp>
        <p:nvSpPr>
          <p:cNvPr id="16" name="Text 14"/>
          <p:cNvSpPr/>
          <p:nvPr/>
        </p:nvSpPr>
        <p:spPr>
          <a:xfrm>
            <a:off x="3867912" y="199339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rPr>
              <a:t>Predict the crowd</a:t>
            </a:r>
            <a:endParaRPr lang="en-US" sz="1100" dirty="0"/>
          </a:p>
        </p:txBody>
      </p:sp>
      <p:sp>
        <p:nvSpPr>
          <p:cNvPr id="17" name="Shape 15"/>
          <p:cNvSpPr/>
          <p:nvPr/>
        </p:nvSpPr>
        <p:spPr>
          <a:xfrm>
            <a:off x="3886200" y="2395728"/>
            <a:ext cx="1316736" cy="0"/>
          </a:xfrm>
          <a:prstGeom prst="line">
            <a:avLst/>
          </a:prstGeom>
          <a:noFill/>
          <a:ln w="6350">
            <a:solidFill>
              <a:srgbClr val="30363D"/>
            </a:solidFill>
            <a:prstDash val="solid"/>
          </a:ln>
        </p:spPr>
      </p:sp>
      <p:sp>
        <p:nvSpPr>
          <p:cNvPr id="18" name="Text 16"/>
          <p:cNvSpPr/>
          <p:nvPr/>
        </p:nvSpPr>
        <p:spPr>
          <a:xfrm>
            <a:off x="3867912" y="2487168"/>
            <a:ext cx="1353312" cy="2148840"/>
          </a:xfrm>
          <a:prstGeom prst="rect">
            <a:avLst/>
          </a:prstGeom>
          <a:noFill/>
          <a:ln/>
        </p:spPr>
        <p:txBody>
          <a:bodyPr wrap="square" lIns="0" tIns="0" rIns="0" bIns="0" rtlCol="0" anchor="ctr"/>
          <a:lstStyle/>
          <a:p>
            <a:pPr algn="ctr" indent="0" marL="0">
              <a:lnSpc>
                <a:spcPct val="140000"/>
              </a:lnSpc>
              <a:buNone/>
            </a:pPr>
            <a:r>
              <a:rPr lang="en-US" sz="950" dirty="0">
                <a:solidFill>
                  <a:srgbClr val="8B949E"/>
                </a:solidFill>
              </a:rPr>
              <a:t>Before results show: who do you think most people will pick? This turns it into a prediction game on top of a taste test.</a:t>
            </a:r>
            <a:endParaRPr lang="en-US" sz="950" dirty="0"/>
          </a:p>
        </p:txBody>
      </p:sp>
      <p:sp>
        <p:nvSpPr>
          <p:cNvPr id="19" name="Shape 17"/>
          <p:cNvSpPr/>
          <p:nvPr/>
        </p:nvSpPr>
        <p:spPr>
          <a:xfrm>
            <a:off x="5458968" y="1463040"/>
            <a:ext cx="1536192" cy="3383280"/>
          </a:xfrm>
          <a:prstGeom prst="roundRect">
            <a:avLst>
              <a:gd name="adj" fmla="val 5357"/>
            </a:avLst>
          </a:prstGeom>
          <a:solidFill>
            <a:srgbClr val="1C2128"/>
          </a:solidFill>
          <a:ln w="6350">
            <a:solidFill>
              <a:srgbClr val="30363D"/>
            </a:solidFill>
            <a:prstDash val="solid"/>
          </a:ln>
        </p:spPr>
      </p:sp>
      <p:sp>
        <p:nvSpPr>
          <p:cNvPr id="20" name="Text 18"/>
          <p:cNvSpPr/>
          <p:nvPr/>
        </p:nvSpPr>
        <p:spPr>
          <a:xfrm>
            <a:off x="5458968" y="1572768"/>
            <a:ext cx="1536192" cy="384048"/>
          </a:xfrm>
          <a:prstGeom prst="rect">
            <a:avLst/>
          </a:prstGeom>
          <a:noFill/>
          <a:ln/>
        </p:spPr>
        <p:txBody>
          <a:bodyPr wrap="square" lIns="0" tIns="0" rIns="0" bIns="0" rtlCol="0" anchor="ctr"/>
          <a:lstStyle/>
          <a:p>
            <a:pPr algn="ctr" indent="0" marL="0">
              <a:buNone/>
            </a:pPr>
            <a:r>
              <a:rPr lang="en-US" sz="2000" b="1" dirty="0">
                <a:solidFill>
                  <a:srgbClr val="3FB950"/>
                </a:solidFill>
              </a:rPr>
              <a:t>04</a:t>
            </a:r>
            <a:endParaRPr lang="en-US" sz="2000" dirty="0"/>
          </a:p>
        </p:txBody>
      </p:sp>
      <p:sp>
        <p:nvSpPr>
          <p:cNvPr id="21" name="Text 19"/>
          <p:cNvSpPr/>
          <p:nvPr/>
        </p:nvSpPr>
        <p:spPr>
          <a:xfrm>
            <a:off x="5550408" y="199339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rPr>
              <a:t>Reveal</a:t>
            </a:r>
            <a:endParaRPr lang="en-US" sz="1100" dirty="0"/>
          </a:p>
        </p:txBody>
      </p:sp>
      <p:sp>
        <p:nvSpPr>
          <p:cNvPr id="22" name="Shape 20"/>
          <p:cNvSpPr/>
          <p:nvPr/>
        </p:nvSpPr>
        <p:spPr>
          <a:xfrm>
            <a:off x="5568696" y="2395728"/>
            <a:ext cx="1316736" cy="0"/>
          </a:xfrm>
          <a:prstGeom prst="line">
            <a:avLst/>
          </a:prstGeom>
          <a:noFill/>
          <a:ln w="6350">
            <a:solidFill>
              <a:srgbClr val="30363D"/>
            </a:solidFill>
            <a:prstDash val="solid"/>
          </a:ln>
        </p:spPr>
      </p:sp>
      <p:sp>
        <p:nvSpPr>
          <p:cNvPr id="23" name="Text 21"/>
          <p:cNvSpPr/>
          <p:nvPr/>
        </p:nvSpPr>
        <p:spPr>
          <a:xfrm>
            <a:off x="5550408" y="2487168"/>
            <a:ext cx="1353312" cy="2148840"/>
          </a:xfrm>
          <a:prstGeom prst="rect">
            <a:avLst/>
          </a:prstGeom>
          <a:noFill/>
          <a:ln/>
        </p:spPr>
        <p:txBody>
          <a:bodyPr wrap="square" lIns="0" tIns="0" rIns="0" bIns="0" rtlCol="0" anchor="ctr"/>
          <a:lstStyle/>
          <a:p>
            <a:pPr algn="ctr" indent="0" marL="0">
              <a:lnSpc>
                <a:spcPct val="140000"/>
              </a:lnSpc>
              <a:buNone/>
            </a:pPr>
            <a:r>
              <a:rPr lang="en-US" sz="950" dirty="0">
                <a:solidFill>
                  <a:srgbClr val="8B949E"/>
                </a:solidFill>
              </a:rPr>
              <a:t>Names shown. Crowd votes shown. Your guesses scored. 'You picked Gemini. You thought it was Claude. 62% also guessed wrong.'</a:t>
            </a:r>
            <a:endParaRPr lang="en-US" sz="950" dirty="0"/>
          </a:p>
        </p:txBody>
      </p:sp>
      <p:sp>
        <p:nvSpPr>
          <p:cNvPr id="24" name="Shape 22"/>
          <p:cNvSpPr/>
          <p:nvPr/>
        </p:nvSpPr>
        <p:spPr>
          <a:xfrm>
            <a:off x="7141464" y="1463040"/>
            <a:ext cx="1536192" cy="3383280"/>
          </a:xfrm>
          <a:prstGeom prst="roundRect">
            <a:avLst>
              <a:gd name="adj" fmla="val 5357"/>
            </a:avLst>
          </a:prstGeom>
          <a:solidFill>
            <a:srgbClr val="1C2128"/>
          </a:solidFill>
          <a:ln w="6350">
            <a:solidFill>
              <a:srgbClr val="30363D"/>
            </a:solidFill>
            <a:prstDash val="solid"/>
          </a:ln>
        </p:spPr>
      </p:sp>
      <p:sp>
        <p:nvSpPr>
          <p:cNvPr id="25" name="Text 23"/>
          <p:cNvSpPr/>
          <p:nvPr/>
        </p:nvSpPr>
        <p:spPr>
          <a:xfrm>
            <a:off x="7141464" y="1572768"/>
            <a:ext cx="1536192" cy="384048"/>
          </a:xfrm>
          <a:prstGeom prst="rect">
            <a:avLst/>
          </a:prstGeom>
          <a:noFill/>
          <a:ln/>
        </p:spPr>
        <p:txBody>
          <a:bodyPr wrap="square" lIns="0" tIns="0" rIns="0" bIns="0" rtlCol="0" anchor="ctr"/>
          <a:lstStyle/>
          <a:p>
            <a:pPr algn="ctr" indent="0" marL="0">
              <a:buNone/>
            </a:pPr>
            <a:r>
              <a:rPr lang="en-US" sz="2000" b="1" dirty="0">
                <a:solidFill>
                  <a:srgbClr val="3FB950"/>
                </a:solidFill>
              </a:rPr>
              <a:t>05</a:t>
            </a:r>
            <a:endParaRPr lang="en-US" sz="2000" dirty="0"/>
          </a:p>
        </p:txBody>
      </p:sp>
      <p:sp>
        <p:nvSpPr>
          <p:cNvPr id="26" name="Text 24"/>
          <p:cNvSpPr/>
          <p:nvPr/>
        </p:nvSpPr>
        <p:spPr>
          <a:xfrm>
            <a:off x="7232904" y="1993392"/>
            <a:ext cx="1353312" cy="347472"/>
          </a:xfrm>
          <a:prstGeom prst="rect">
            <a:avLst/>
          </a:prstGeom>
          <a:noFill/>
          <a:ln/>
        </p:spPr>
        <p:txBody>
          <a:bodyPr wrap="square" lIns="0" tIns="0" rIns="0" bIns="0" rtlCol="0" anchor="ctr"/>
          <a:lstStyle/>
          <a:p>
            <a:pPr algn="ctr" indent="0" marL="0">
              <a:buNone/>
            </a:pPr>
            <a:r>
              <a:rPr lang="en-US" sz="1100" b="1" dirty="0">
                <a:solidFill>
                  <a:srgbClr val="FFFFFF"/>
                </a:solidFill>
              </a:rPr>
              <a:t>Streak + share</a:t>
            </a:r>
            <a:endParaRPr lang="en-US" sz="1100" dirty="0"/>
          </a:p>
        </p:txBody>
      </p:sp>
      <p:sp>
        <p:nvSpPr>
          <p:cNvPr id="27" name="Shape 25"/>
          <p:cNvSpPr/>
          <p:nvPr/>
        </p:nvSpPr>
        <p:spPr>
          <a:xfrm>
            <a:off x="7251192" y="2395728"/>
            <a:ext cx="1316736" cy="0"/>
          </a:xfrm>
          <a:prstGeom prst="line">
            <a:avLst/>
          </a:prstGeom>
          <a:noFill/>
          <a:ln w="6350">
            <a:solidFill>
              <a:srgbClr val="30363D"/>
            </a:solidFill>
            <a:prstDash val="solid"/>
          </a:ln>
        </p:spPr>
      </p:sp>
      <p:sp>
        <p:nvSpPr>
          <p:cNvPr id="28" name="Text 26"/>
          <p:cNvSpPr/>
          <p:nvPr/>
        </p:nvSpPr>
        <p:spPr>
          <a:xfrm>
            <a:off x="7232904" y="2487168"/>
            <a:ext cx="1353312" cy="2148840"/>
          </a:xfrm>
          <a:prstGeom prst="rect">
            <a:avLst/>
          </a:prstGeom>
          <a:noFill/>
          <a:ln/>
        </p:spPr>
        <p:txBody>
          <a:bodyPr wrap="square" lIns="0" tIns="0" rIns="0" bIns="0" rtlCol="0" anchor="ctr"/>
          <a:lstStyle/>
          <a:p>
            <a:pPr algn="ctr" indent="0" marL="0">
              <a:lnSpc>
                <a:spcPct val="140000"/>
              </a:lnSpc>
              <a:buNone/>
            </a:pPr>
            <a:r>
              <a:rPr lang="en-US" sz="950" dirty="0">
                <a:solidFill>
                  <a:srgbClr val="8B949E"/>
                </a:solidFill>
              </a:rPr>
              <a:t>Keep your daily streak. Earn titles: Model Sniper, Bias Breaker, Claude Loyalist. Share card: 'I beat 71% of voters today.'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THE HOOK</a:t>
            </a:r>
            <a:endParaRPr lang="en-US" sz="1000" dirty="0"/>
          </a:p>
        </p:txBody>
      </p:sp>
      <p:sp>
        <p:nvSpPr>
          <p:cNvPr id="3" name="Text 1"/>
          <p:cNvSpPr/>
          <p:nvPr/>
        </p:nvSpPr>
        <p:spPr>
          <a:xfrm>
            <a:off x="594360" y="658368"/>
            <a:ext cx="8229600" cy="594360"/>
          </a:xfrm>
          <a:prstGeom prst="rect">
            <a:avLst/>
          </a:prstGeom>
          <a:noFill/>
          <a:ln/>
        </p:spPr>
        <p:txBody>
          <a:bodyPr wrap="square" lIns="0" tIns="0" rIns="0" bIns="0" rtlCol="0" anchor="ctr"/>
          <a:lstStyle/>
          <a:p>
            <a:pPr indent="0" marL="0">
              <a:buNone/>
            </a:pPr>
            <a:r>
              <a:rPr lang="en-US" sz="3400" b="1" dirty="0">
                <a:solidFill>
                  <a:srgbClr val="FFFFFF"/>
                </a:solidFill>
              </a:rPr>
              <a:t>The reveal is the product.</a:t>
            </a:r>
            <a:endParaRPr lang="en-US" sz="3400" dirty="0"/>
          </a:p>
        </p:txBody>
      </p:sp>
      <p:sp>
        <p:nvSpPr>
          <p:cNvPr id="4" name="Shape 2"/>
          <p:cNvSpPr/>
          <p:nvPr/>
        </p:nvSpPr>
        <p:spPr>
          <a:xfrm>
            <a:off x="594360" y="1389888"/>
            <a:ext cx="4663440" cy="1371600"/>
          </a:xfrm>
          <a:prstGeom prst="roundRect">
            <a:avLst>
              <a:gd name="adj" fmla="val 8000"/>
            </a:avLst>
          </a:prstGeom>
          <a:solidFill>
            <a:srgbClr val="1C2128"/>
          </a:solidFill>
          <a:ln w="19050">
            <a:solidFill>
              <a:srgbClr val="C3F73A"/>
            </a:solidFill>
            <a:prstDash val="solid"/>
          </a:ln>
        </p:spPr>
      </p:sp>
      <p:sp>
        <p:nvSpPr>
          <p:cNvPr id="5" name="Text 3"/>
          <p:cNvSpPr/>
          <p:nvPr/>
        </p:nvSpPr>
        <p:spPr>
          <a:xfrm>
            <a:off x="594360" y="1389888"/>
            <a:ext cx="4663440" cy="1371600"/>
          </a:xfrm>
          <a:prstGeom prst="rect">
            <a:avLst/>
          </a:prstGeom>
          <a:noFill/>
          <a:ln/>
        </p:spPr>
        <p:txBody>
          <a:bodyPr wrap="square" lIns="0" tIns="0" rIns="0" bIns="0" rtlCol="0" anchor="ctr"/>
          <a:lstStyle/>
          <a:p>
            <a:pPr algn="ctr" indent="0" marL="0">
              <a:buNone/>
            </a:pPr>
            <a:r>
              <a:rPr lang="en-US" sz="2000" b="1" i="1" dirty="0">
                <a:solidFill>
                  <a:srgbClr val="FFFFFF"/>
                </a:solidFill>
              </a:rPr>
              <a:t>"Can you tell which AI wrote this?"</a:t>
            </a:r>
            <a:endParaRPr lang="en-US" sz="2000" dirty="0"/>
          </a:p>
        </p:txBody>
      </p:sp>
      <p:sp>
        <p:nvSpPr>
          <p:cNvPr id="6" name="Shape 4"/>
          <p:cNvSpPr/>
          <p:nvPr/>
        </p:nvSpPr>
        <p:spPr>
          <a:xfrm>
            <a:off x="5577840" y="1389888"/>
            <a:ext cx="3108960" cy="3291840"/>
          </a:xfrm>
          <a:prstGeom prst="roundRect">
            <a:avLst>
              <a:gd name="adj" fmla="val 3529"/>
            </a:avLst>
          </a:prstGeom>
          <a:solidFill>
            <a:srgbClr val="1C2128"/>
          </a:solidFill>
          <a:ln w="6350">
            <a:solidFill>
              <a:srgbClr val="30363D"/>
            </a:solidFill>
            <a:prstDash val="solid"/>
          </a:ln>
        </p:spPr>
      </p:sp>
      <p:sp>
        <p:nvSpPr>
          <p:cNvPr id="7" name="Text 5"/>
          <p:cNvSpPr/>
          <p:nvPr/>
        </p:nvSpPr>
        <p:spPr>
          <a:xfrm>
            <a:off x="5577840" y="1508760"/>
            <a:ext cx="3108960" cy="228600"/>
          </a:xfrm>
          <a:prstGeom prst="rect">
            <a:avLst/>
          </a:prstGeom>
          <a:noFill/>
          <a:ln/>
        </p:spPr>
        <p:txBody>
          <a:bodyPr wrap="square" lIns="0" tIns="0" rIns="0" bIns="0" rtlCol="0" anchor="ctr"/>
          <a:lstStyle/>
          <a:p>
            <a:pPr algn="ctr" indent="0" marL="0">
              <a:buNone/>
            </a:pPr>
            <a:r>
              <a:rPr lang="en-US" sz="900" b="1" spc="300" kern="0" dirty="0">
                <a:solidFill>
                  <a:srgbClr val="C3F73A"/>
                </a:solidFill>
              </a:rPr>
              <a:t>TODAY'S RESULT</a:t>
            </a:r>
            <a:endParaRPr lang="en-US" sz="900" dirty="0"/>
          </a:p>
        </p:txBody>
      </p:sp>
      <p:sp>
        <p:nvSpPr>
          <p:cNvPr id="8" name="Text 6"/>
          <p:cNvSpPr/>
          <p:nvPr/>
        </p:nvSpPr>
        <p:spPr>
          <a:xfrm>
            <a:off x="5715000" y="1828800"/>
            <a:ext cx="2834640" cy="777240"/>
          </a:xfrm>
          <a:prstGeom prst="rect">
            <a:avLst/>
          </a:prstGeom>
          <a:noFill/>
          <a:ln/>
        </p:spPr>
        <p:txBody>
          <a:bodyPr wrap="square" lIns="0" tIns="0" rIns="0" bIns="0" rtlCol="0" anchor="ctr"/>
          <a:lstStyle/>
          <a:p>
            <a:pPr indent="0" marL="0">
              <a:lnSpc>
                <a:spcPct val="145000"/>
              </a:lnSpc>
              <a:buNone/>
            </a:pPr>
            <a:r>
              <a:rPr lang="en-US" sz="1200" b="1" dirty="0">
                <a:solidFill>
                  <a:srgbClr val="FFFFFF"/>
                </a:solidFill>
              </a:rPr>
              <a:t>I picked Claude.</a:t>
            </a:r>
            <a:endParaRPr lang="en-US" sz="1200" dirty="0"/>
          </a:p>
          <a:p>
            <a:pPr indent="0" marL="0">
              <a:lnSpc>
                <a:spcPct val="145000"/>
              </a:lnSpc>
              <a:buNone/>
            </a:pPr>
            <a:r>
              <a:rPr lang="en-US" sz="1200" b="1" dirty="0">
                <a:solidFill>
                  <a:srgbClr val="FFFFFF"/>
                </a:solidFill>
              </a:rPr>
              <a:t>Thought it was ChatGPT.</a:t>
            </a:r>
            <a:endParaRPr lang="en-US" sz="1200" dirty="0"/>
          </a:p>
          <a:p>
            <a:pPr indent="0" marL="0">
              <a:lnSpc>
                <a:spcPct val="145000"/>
              </a:lnSpc>
              <a:buNone/>
            </a:pPr>
            <a:r>
              <a:rPr lang="en-US" sz="1200" b="1" dirty="0">
                <a:solidFill>
                  <a:srgbClr val="FFFFFF"/>
                </a:solidFill>
              </a:rPr>
              <a:t>Beat 71% of voters.</a:t>
            </a:r>
            <a:endParaRPr lang="en-US" sz="1200" dirty="0"/>
          </a:p>
        </p:txBody>
      </p:sp>
      <p:sp>
        <p:nvSpPr>
          <p:cNvPr id="9" name="Shape 7"/>
          <p:cNvSpPr/>
          <p:nvPr/>
        </p:nvSpPr>
        <p:spPr>
          <a:xfrm>
            <a:off x="5715000" y="2697480"/>
            <a:ext cx="2743200" cy="0"/>
          </a:xfrm>
          <a:prstGeom prst="line">
            <a:avLst/>
          </a:prstGeom>
          <a:noFill/>
          <a:ln w="6350">
            <a:solidFill>
              <a:srgbClr val="30363D"/>
            </a:solidFill>
            <a:prstDash val="solid"/>
          </a:ln>
        </p:spPr>
      </p:sp>
      <p:sp>
        <p:nvSpPr>
          <p:cNvPr id="10" name="Text 8"/>
          <p:cNvSpPr/>
          <p:nvPr/>
        </p:nvSpPr>
        <p:spPr>
          <a:xfrm>
            <a:off x="5715000" y="2788920"/>
            <a:ext cx="2743200" cy="256032"/>
          </a:xfrm>
          <a:prstGeom prst="rect">
            <a:avLst/>
          </a:prstGeom>
          <a:noFill/>
          <a:ln/>
        </p:spPr>
        <p:txBody>
          <a:bodyPr wrap="square" lIns="0" tIns="0" rIns="0" bIns="0" rtlCol="0" anchor="ctr"/>
          <a:lstStyle/>
          <a:p>
            <a:pPr indent="0" marL="0">
              <a:buNone/>
            </a:pPr>
            <a:r>
              <a:rPr lang="en-US" sz="1100" dirty="0">
                <a:solidFill>
                  <a:srgbClr val="3FB950"/>
                </a:solidFill>
              </a:rPr>
              <a:t>Claude     58%</a:t>
            </a:r>
            <a:endParaRPr lang="en-US" sz="1100" dirty="0"/>
          </a:p>
        </p:txBody>
      </p:sp>
      <p:sp>
        <p:nvSpPr>
          <p:cNvPr id="11" name="Text 9"/>
          <p:cNvSpPr/>
          <p:nvPr/>
        </p:nvSpPr>
        <p:spPr>
          <a:xfrm>
            <a:off x="5715000" y="3035808"/>
            <a:ext cx="2743200" cy="256032"/>
          </a:xfrm>
          <a:prstGeom prst="rect">
            <a:avLst/>
          </a:prstGeom>
          <a:noFill/>
          <a:ln/>
        </p:spPr>
        <p:txBody>
          <a:bodyPr wrap="square" lIns="0" tIns="0" rIns="0" bIns="0" rtlCol="0" anchor="ctr"/>
          <a:lstStyle/>
          <a:p>
            <a:pPr indent="0" marL="0">
              <a:buNone/>
            </a:pPr>
            <a:r>
              <a:rPr lang="en-US" sz="1100" dirty="0">
                <a:solidFill>
                  <a:srgbClr val="8B949E"/>
                </a:solidFill>
              </a:rPr>
              <a:t>ChatGPT  29%</a:t>
            </a:r>
            <a:endParaRPr lang="en-US" sz="1100" dirty="0"/>
          </a:p>
        </p:txBody>
      </p:sp>
      <p:sp>
        <p:nvSpPr>
          <p:cNvPr id="12" name="Text 10"/>
          <p:cNvSpPr/>
          <p:nvPr/>
        </p:nvSpPr>
        <p:spPr>
          <a:xfrm>
            <a:off x="5715000" y="3282696"/>
            <a:ext cx="2743200" cy="256032"/>
          </a:xfrm>
          <a:prstGeom prst="rect">
            <a:avLst/>
          </a:prstGeom>
          <a:noFill/>
          <a:ln/>
        </p:spPr>
        <p:txBody>
          <a:bodyPr wrap="square" lIns="0" tIns="0" rIns="0" bIns="0" rtlCol="0" anchor="ctr"/>
          <a:lstStyle/>
          <a:p>
            <a:pPr indent="0" marL="0">
              <a:buNone/>
            </a:pPr>
            <a:r>
              <a:rPr lang="en-US" sz="1100" dirty="0">
                <a:solidFill>
                  <a:srgbClr val="8B949E"/>
                </a:solidFill>
              </a:rPr>
              <a:t>Both bad  13%</a:t>
            </a:r>
            <a:endParaRPr lang="en-US" sz="1100" dirty="0"/>
          </a:p>
        </p:txBody>
      </p:sp>
      <p:sp>
        <p:nvSpPr>
          <p:cNvPr id="13" name="Shape 11"/>
          <p:cNvSpPr/>
          <p:nvPr/>
        </p:nvSpPr>
        <p:spPr>
          <a:xfrm>
            <a:off x="5715000" y="3602736"/>
            <a:ext cx="2743200" cy="0"/>
          </a:xfrm>
          <a:prstGeom prst="line">
            <a:avLst/>
          </a:prstGeom>
          <a:noFill/>
          <a:ln w="6350">
            <a:solidFill>
              <a:srgbClr val="30363D"/>
            </a:solidFill>
            <a:prstDash val="solid"/>
          </a:ln>
        </p:spPr>
      </p:sp>
      <p:sp>
        <p:nvSpPr>
          <p:cNvPr id="14" name="Text 12"/>
          <p:cNvSpPr/>
          <p:nvPr/>
        </p:nvSpPr>
        <p:spPr>
          <a:xfrm>
            <a:off x="5577840" y="3657600"/>
            <a:ext cx="3108960" cy="256032"/>
          </a:xfrm>
          <a:prstGeom prst="rect">
            <a:avLst/>
          </a:prstGeom>
          <a:noFill/>
          <a:ln/>
        </p:spPr>
        <p:txBody>
          <a:bodyPr wrap="square" lIns="0" tIns="0" rIns="0" bIns="0" rtlCol="0" anchor="ctr"/>
          <a:lstStyle/>
          <a:p>
            <a:pPr algn="ctr" indent="0" marL="0">
              <a:buNone/>
            </a:pPr>
            <a:r>
              <a:rPr lang="en-US" sz="1000" dirty="0">
                <a:solidFill>
                  <a:srgbClr val="C3F73A"/>
                </a:solidFill>
              </a:rPr>
              <a:t>guessthemodel.com</a:t>
            </a:r>
            <a:endParaRPr lang="en-US" sz="1000" dirty="0"/>
          </a:p>
        </p:txBody>
      </p:sp>
      <p:sp>
        <p:nvSpPr>
          <p:cNvPr id="15" name="Text 13"/>
          <p:cNvSpPr/>
          <p:nvPr/>
        </p:nvSpPr>
        <p:spPr>
          <a:xfrm>
            <a:off x="594360" y="2926080"/>
            <a:ext cx="2331720" cy="256032"/>
          </a:xfrm>
          <a:prstGeom prst="rect">
            <a:avLst/>
          </a:prstGeom>
          <a:noFill/>
          <a:ln/>
        </p:spPr>
        <p:txBody>
          <a:bodyPr wrap="square" lIns="0" tIns="0" rIns="0" bIns="0" rtlCol="0" anchor="ctr"/>
          <a:lstStyle/>
          <a:p>
            <a:pPr indent="0" marL="0">
              <a:buNone/>
            </a:pPr>
            <a:r>
              <a:rPr lang="en-US" sz="1200" b="1" dirty="0">
                <a:solidFill>
                  <a:srgbClr val="FFFFFF"/>
                </a:solidFill>
              </a:rPr>
              <a:t>→ Surprise</a:t>
            </a:r>
            <a:endParaRPr lang="en-US" sz="1200" dirty="0"/>
          </a:p>
        </p:txBody>
      </p:sp>
      <p:sp>
        <p:nvSpPr>
          <p:cNvPr id="16" name="Text 14"/>
          <p:cNvSpPr/>
          <p:nvPr/>
        </p:nvSpPr>
        <p:spPr>
          <a:xfrm>
            <a:off x="594360" y="3182112"/>
            <a:ext cx="2331720" cy="566928"/>
          </a:xfrm>
          <a:prstGeom prst="rect">
            <a:avLst/>
          </a:prstGeom>
          <a:noFill/>
          <a:ln/>
        </p:spPr>
        <p:txBody>
          <a:bodyPr wrap="square" lIns="0" tIns="0" rIns="0" bIns="0" rtlCol="0" anchor="ctr"/>
          <a:lstStyle/>
          <a:p>
            <a:pPr indent="0" marL="0">
              <a:lnSpc>
                <a:spcPct val="130000"/>
              </a:lnSpc>
              <a:buNone/>
            </a:pPr>
            <a:r>
              <a:rPr lang="en-US" sz="1100" dirty="0">
                <a:solidFill>
                  <a:srgbClr val="8B949E"/>
                </a:solidFill>
              </a:rPr>
              <a:t>'I thought it was Claude. It was Gemini.' That shock is shareable.</a:t>
            </a:r>
            <a:endParaRPr lang="en-US" sz="1100" dirty="0"/>
          </a:p>
        </p:txBody>
      </p:sp>
      <p:sp>
        <p:nvSpPr>
          <p:cNvPr id="17" name="Text 15"/>
          <p:cNvSpPr/>
          <p:nvPr/>
        </p:nvSpPr>
        <p:spPr>
          <a:xfrm>
            <a:off x="3108960" y="2926080"/>
            <a:ext cx="2331720" cy="256032"/>
          </a:xfrm>
          <a:prstGeom prst="rect">
            <a:avLst/>
          </a:prstGeom>
          <a:noFill/>
          <a:ln/>
        </p:spPr>
        <p:txBody>
          <a:bodyPr wrap="square" lIns="0" tIns="0" rIns="0" bIns="0" rtlCol="0" anchor="ctr"/>
          <a:lstStyle/>
          <a:p>
            <a:pPr indent="0" marL="0">
              <a:buNone/>
            </a:pPr>
            <a:r>
              <a:rPr lang="en-US" sz="1200" b="1" dirty="0">
                <a:solidFill>
                  <a:srgbClr val="FFFFFF"/>
                </a:solidFill>
              </a:rPr>
              <a:t>→ Identity</a:t>
            </a:r>
            <a:endParaRPr lang="en-US" sz="1200" dirty="0"/>
          </a:p>
        </p:txBody>
      </p:sp>
      <p:sp>
        <p:nvSpPr>
          <p:cNvPr id="18" name="Text 16"/>
          <p:cNvSpPr/>
          <p:nvPr/>
        </p:nvSpPr>
        <p:spPr>
          <a:xfrm>
            <a:off x="3108960" y="3182112"/>
            <a:ext cx="2331720" cy="566928"/>
          </a:xfrm>
          <a:prstGeom prst="rect">
            <a:avLst/>
          </a:prstGeom>
          <a:noFill/>
          <a:ln/>
        </p:spPr>
        <p:txBody>
          <a:bodyPr wrap="square" lIns="0" tIns="0" rIns="0" bIns="0" rtlCol="0" anchor="ctr"/>
          <a:lstStyle/>
          <a:p>
            <a:pPr indent="0" marL="0">
              <a:lnSpc>
                <a:spcPct val="130000"/>
              </a:lnSpc>
              <a:buNone/>
            </a:pPr>
            <a:r>
              <a:rPr lang="en-US" sz="1100" dirty="0">
                <a:solidFill>
                  <a:srgbClr val="8B949E"/>
                </a:solidFill>
              </a:rPr>
              <a:t>Your score reveals your AI taste. 'You're a Model Sniper.' People share personality reveals.</a:t>
            </a:r>
            <a:endParaRPr lang="en-US" sz="1100" dirty="0"/>
          </a:p>
        </p:txBody>
      </p:sp>
      <p:sp>
        <p:nvSpPr>
          <p:cNvPr id="19" name="Text 17"/>
          <p:cNvSpPr/>
          <p:nvPr/>
        </p:nvSpPr>
        <p:spPr>
          <a:xfrm>
            <a:off x="594360" y="3931920"/>
            <a:ext cx="2331720" cy="256032"/>
          </a:xfrm>
          <a:prstGeom prst="rect">
            <a:avLst/>
          </a:prstGeom>
          <a:noFill/>
          <a:ln/>
        </p:spPr>
        <p:txBody>
          <a:bodyPr wrap="square" lIns="0" tIns="0" rIns="0" bIns="0" rtlCol="0" anchor="ctr"/>
          <a:lstStyle/>
          <a:p>
            <a:pPr indent="0" marL="0">
              <a:buNone/>
            </a:pPr>
            <a:r>
              <a:rPr lang="en-US" sz="1200" b="1" dirty="0">
                <a:solidFill>
                  <a:srgbClr val="FFFFFF"/>
                </a:solidFill>
              </a:rPr>
              <a:t>→ Debate</a:t>
            </a:r>
            <a:endParaRPr lang="en-US" sz="1200" dirty="0"/>
          </a:p>
        </p:txBody>
      </p:sp>
      <p:sp>
        <p:nvSpPr>
          <p:cNvPr id="20" name="Text 18"/>
          <p:cNvSpPr/>
          <p:nvPr/>
        </p:nvSpPr>
        <p:spPr>
          <a:xfrm>
            <a:off x="594360" y="4187952"/>
            <a:ext cx="2331720" cy="566928"/>
          </a:xfrm>
          <a:prstGeom prst="rect">
            <a:avLst/>
          </a:prstGeom>
          <a:noFill/>
          <a:ln/>
        </p:spPr>
        <p:txBody>
          <a:bodyPr wrap="square" lIns="0" tIns="0" rIns="0" bIns="0" rtlCol="0" anchor="ctr"/>
          <a:lstStyle/>
          <a:p>
            <a:pPr indent="0" marL="0">
              <a:lnSpc>
                <a:spcPct val="130000"/>
              </a:lnSpc>
              <a:buNone/>
            </a:pPr>
            <a:r>
              <a:rPr lang="en-US" sz="1100" dirty="0">
                <a:solidFill>
                  <a:srgbClr val="8B949E"/>
                </a:solidFill>
              </a:rPr>
              <a:t>'Both bad: 31%' on a battle is a bigger story than any winner.</a:t>
            </a:r>
            <a:endParaRPr lang="en-US" sz="1100" dirty="0"/>
          </a:p>
        </p:txBody>
      </p:sp>
      <p:sp>
        <p:nvSpPr>
          <p:cNvPr id="21" name="Text 19"/>
          <p:cNvSpPr/>
          <p:nvPr/>
        </p:nvSpPr>
        <p:spPr>
          <a:xfrm>
            <a:off x="3108960" y="3931920"/>
            <a:ext cx="2331720" cy="256032"/>
          </a:xfrm>
          <a:prstGeom prst="rect">
            <a:avLst/>
          </a:prstGeom>
          <a:noFill/>
          <a:ln/>
        </p:spPr>
        <p:txBody>
          <a:bodyPr wrap="square" lIns="0" tIns="0" rIns="0" bIns="0" rtlCol="0" anchor="ctr"/>
          <a:lstStyle/>
          <a:p>
            <a:pPr indent="0" marL="0">
              <a:buNone/>
            </a:pPr>
            <a:r>
              <a:rPr lang="en-US" sz="1200" b="1" dirty="0">
                <a:solidFill>
                  <a:srgbClr val="FFFFFF"/>
                </a:solidFill>
              </a:rPr>
              <a:t>→ Timeliness</a:t>
            </a:r>
            <a:endParaRPr lang="en-US" sz="1200" dirty="0"/>
          </a:p>
        </p:txBody>
      </p:sp>
      <p:sp>
        <p:nvSpPr>
          <p:cNvPr id="22" name="Text 20"/>
          <p:cNvSpPr/>
          <p:nvPr/>
        </p:nvSpPr>
        <p:spPr>
          <a:xfrm>
            <a:off x="3108960" y="4187952"/>
            <a:ext cx="2331720" cy="566928"/>
          </a:xfrm>
          <a:prstGeom prst="rect">
            <a:avLst/>
          </a:prstGeom>
          <a:noFill/>
          <a:ln/>
        </p:spPr>
        <p:txBody>
          <a:bodyPr wrap="square" lIns="0" tIns="0" rIns="0" bIns="0" rtlCol="0" anchor="ctr"/>
          <a:lstStyle/>
          <a:p>
            <a:pPr indent="0" marL="0">
              <a:lnSpc>
                <a:spcPct val="130000"/>
              </a:lnSpc>
              <a:buNone/>
            </a:pPr>
            <a:r>
              <a:rPr lang="en-US" sz="1100" dirty="0">
                <a:solidFill>
                  <a:srgbClr val="8B949E"/>
                </a:solidFill>
              </a:rPr>
              <a:t>When a new model drops, your site is the first real crowd verdict.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DAILY SCHEDULE + GAMIFICATION</a:t>
            </a:r>
            <a:endParaRPr lang="en-US" sz="1000" dirty="0"/>
          </a:p>
        </p:txBody>
      </p:sp>
      <p:sp>
        <p:nvSpPr>
          <p:cNvPr id="3" name="Text 1"/>
          <p:cNvSpPr/>
          <p:nvPr/>
        </p:nvSpPr>
        <p:spPr>
          <a:xfrm>
            <a:off x="594360" y="658368"/>
            <a:ext cx="8229600" cy="530352"/>
          </a:xfrm>
          <a:prstGeom prst="rect">
            <a:avLst/>
          </a:prstGeom>
          <a:noFill/>
          <a:ln/>
        </p:spPr>
        <p:txBody>
          <a:bodyPr wrap="square" lIns="0" tIns="0" rIns="0" bIns="0" rtlCol="0" anchor="ctr"/>
          <a:lstStyle/>
          <a:p>
            <a:pPr indent="0" marL="0">
              <a:buNone/>
            </a:pPr>
            <a:r>
              <a:rPr lang="en-US" sz="3000" b="1" dirty="0">
                <a:solidFill>
                  <a:srgbClr val="FFFFFF"/>
                </a:solidFill>
              </a:rPr>
              <a:t>A reason to come back every day.</a:t>
            </a:r>
            <a:endParaRPr lang="en-US" sz="3000" dirty="0"/>
          </a:p>
        </p:txBody>
      </p:sp>
      <p:sp>
        <p:nvSpPr>
          <p:cNvPr id="4" name="Shape 2"/>
          <p:cNvSpPr/>
          <p:nvPr/>
        </p:nvSpPr>
        <p:spPr>
          <a:xfrm>
            <a:off x="411480" y="1371600"/>
            <a:ext cx="1078992" cy="1828800"/>
          </a:xfrm>
          <a:prstGeom prst="roundRect">
            <a:avLst>
              <a:gd name="adj" fmla="val 7627"/>
            </a:avLst>
          </a:prstGeom>
          <a:solidFill>
            <a:srgbClr val="1C2128"/>
          </a:solidFill>
          <a:ln w="6350">
            <a:solidFill>
              <a:srgbClr val="30363D"/>
            </a:solidFill>
            <a:prstDash val="solid"/>
          </a:ln>
        </p:spPr>
      </p:sp>
      <p:sp>
        <p:nvSpPr>
          <p:cNvPr id="5" name="Text 3"/>
          <p:cNvSpPr/>
          <p:nvPr/>
        </p:nvSpPr>
        <p:spPr>
          <a:xfrm>
            <a:off x="411480" y="1463040"/>
            <a:ext cx="1078992" cy="274320"/>
          </a:xfrm>
          <a:prstGeom prst="rect">
            <a:avLst/>
          </a:prstGeom>
          <a:noFill/>
          <a:ln/>
        </p:spPr>
        <p:txBody>
          <a:bodyPr wrap="square" lIns="0" tIns="0" rIns="0" bIns="0" rtlCol="0" anchor="ctr"/>
          <a:lstStyle/>
          <a:p>
            <a:pPr algn="ctr" indent="0" marL="0">
              <a:buNone/>
            </a:pPr>
            <a:r>
              <a:rPr lang="en-US" sz="1000" b="1" dirty="0">
                <a:solidFill>
                  <a:srgbClr val="58A6FF"/>
                </a:solidFill>
              </a:rPr>
              <a:t>MON</a:t>
            </a:r>
            <a:endParaRPr lang="en-US" sz="1000" dirty="0"/>
          </a:p>
        </p:txBody>
      </p:sp>
      <p:sp>
        <p:nvSpPr>
          <p:cNvPr id="6" name="Text 4"/>
          <p:cNvSpPr/>
          <p:nvPr/>
        </p:nvSpPr>
        <p:spPr>
          <a:xfrm>
            <a:off x="466344" y="1773936"/>
            <a:ext cx="969264" cy="384048"/>
          </a:xfrm>
          <a:prstGeom prst="rect">
            <a:avLst/>
          </a:prstGeom>
          <a:noFill/>
          <a:ln/>
        </p:spPr>
        <p:txBody>
          <a:bodyPr wrap="square" lIns="0" tIns="0" rIns="0" bIns="0" rtlCol="0" anchor="ctr"/>
          <a:lstStyle/>
          <a:p>
            <a:pPr algn="ctr" indent="0" marL="0">
              <a:buNone/>
            </a:pPr>
            <a:r>
              <a:rPr lang="en-US" sz="1000" b="1" dirty="0">
                <a:solidFill>
                  <a:srgbClr val="FFFFFF"/>
                </a:solidFill>
              </a:rPr>
              <a:t>Coding Battle</a:t>
            </a:r>
            <a:endParaRPr lang="en-US" sz="1000" dirty="0"/>
          </a:p>
        </p:txBody>
      </p:sp>
      <p:sp>
        <p:nvSpPr>
          <p:cNvPr id="7" name="Text 5"/>
          <p:cNvSpPr/>
          <p:nvPr/>
        </p:nvSpPr>
        <p:spPr>
          <a:xfrm>
            <a:off x="466344" y="2194560"/>
            <a:ext cx="969264" cy="685800"/>
          </a:xfrm>
          <a:prstGeom prst="rect">
            <a:avLst/>
          </a:prstGeom>
          <a:noFill/>
          <a:ln/>
        </p:spPr>
        <p:txBody>
          <a:bodyPr wrap="square" lIns="0" tIns="0" rIns="0" bIns="0" rtlCol="0" anchor="ctr"/>
          <a:lstStyle/>
          <a:p>
            <a:pPr algn="ctr" indent="0" marL="0">
              <a:lnSpc>
                <a:spcPct val="130000"/>
              </a:lnSpc>
              <a:buNone/>
            </a:pPr>
            <a:r>
              <a:rPr lang="en-US" sz="900" dirty="0">
                <a:solidFill>
                  <a:srgbClr val="8B949E"/>
                </a:solidFill>
              </a:rPr>
              <a:t>Fix this bug</a:t>
            </a:r>
            <a:endParaRPr lang="en-US" sz="900" dirty="0"/>
          </a:p>
        </p:txBody>
      </p:sp>
      <p:sp>
        <p:nvSpPr>
          <p:cNvPr id="8" name="Shape 6"/>
          <p:cNvSpPr/>
          <p:nvPr/>
        </p:nvSpPr>
        <p:spPr>
          <a:xfrm>
            <a:off x="1618488" y="1371600"/>
            <a:ext cx="1078992" cy="1828800"/>
          </a:xfrm>
          <a:prstGeom prst="roundRect">
            <a:avLst>
              <a:gd name="adj" fmla="val 7627"/>
            </a:avLst>
          </a:prstGeom>
          <a:solidFill>
            <a:srgbClr val="1C2128"/>
          </a:solidFill>
          <a:ln w="6350">
            <a:solidFill>
              <a:srgbClr val="30363D"/>
            </a:solidFill>
            <a:prstDash val="solid"/>
          </a:ln>
        </p:spPr>
      </p:sp>
      <p:sp>
        <p:nvSpPr>
          <p:cNvPr id="9" name="Text 7"/>
          <p:cNvSpPr/>
          <p:nvPr/>
        </p:nvSpPr>
        <p:spPr>
          <a:xfrm>
            <a:off x="1618488" y="1463040"/>
            <a:ext cx="1078992" cy="274320"/>
          </a:xfrm>
          <a:prstGeom prst="rect">
            <a:avLst/>
          </a:prstGeom>
          <a:noFill/>
          <a:ln/>
        </p:spPr>
        <p:txBody>
          <a:bodyPr wrap="square" lIns="0" tIns="0" rIns="0" bIns="0" rtlCol="0" anchor="ctr"/>
          <a:lstStyle/>
          <a:p>
            <a:pPr algn="ctr" indent="0" marL="0">
              <a:buNone/>
            </a:pPr>
            <a:r>
              <a:rPr lang="en-US" sz="1000" b="1" dirty="0">
                <a:solidFill>
                  <a:srgbClr val="D2A8FF"/>
                </a:solidFill>
              </a:rPr>
              <a:t>TUE</a:t>
            </a:r>
            <a:endParaRPr lang="en-US" sz="1000" dirty="0"/>
          </a:p>
        </p:txBody>
      </p:sp>
      <p:sp>
        <p:nvSpPr>
          <p:cNvPr id="10" name="Text 8"/>
          <p:cNvSpPr/>
          <p:nvPr/>
        </p:nvSpPr>
        <p:spPr>
          <a:xfrm>
            <a:off x="1673352" y="1773936"/>
            <a:ext cx="969264" cy="384048"/>
          </a:xfrm>
          <a:prstGeom prst="rect">
            <a:avLst/>
          </a:prstGeom>
          <a:noFill/>
          <a:ln/>
        </p:spPr>
        <p:txBody>
          <a:bodyPr wrap="square" lIns="0" tIns="0" rIns="0" bIns="0" rtlCol="0" anchor="ctr"/>
          <a:lstStyle/>
          <a:p>
            <a:pPr algn="ctr" indent="0" marL="0">
              <a:buNone/>
            </a:pPr>
            <a:r>
              <a:rPr lang="en-US" sz="1000" b="1" dirty="0">
                <a:solidFill>
                  <a:srgbClr val="FFFFFF"/>
                </a:solidFill>
              </a:rPr>
              <a:t>Career Battle</a:t>
            </a:r>
            <a:endParaRPr lang="en-US" sz="1000" dirty="0"/>
          </a:p>
        </p:txBody>
      </p:sp>
      <p:sp>
        <p:nvSpPr>
          <p:cNvPr id="11" name="Text 9"/>
          <p:cNvSpPr/>
          <p:nvPr/>
        </p:nvSpPr>
        <p:spPr>
          <a:xfrm>
            <a:off x="1673352" y="2194560"/>
            <a:ext cx="969264" cy="685800"/>
          </a:xfrm>
          <a:prstGeom prst="rect">
            <a:avLst/>
          </a:prstGeom>
          <a:noFill/>
          <a:ln/>
        </p:spPr>
        <p:txBody>
          <a:bodyPr wrap="square" lIns="0" tIns="0" rIns="0" bIns="0" rtlCol="0" anchor="ctr"/>
          <a:lstStyle/>
          <a:p>
            <a:pPr algn="ctr" indent="0" marL="0">
              <a:lnSpc>
                <a:spcPct val="130000"/>
              </a:lnSpc>
              <a:buNone/>
            </a:pPr>
            <a:r>
              <a:rPr lang="en-US" sz="900" dirty="0">
                <a:solidFill>
                  <a:srgbClr val="8B949E"/>
                </a:solidFill>
              </a:rPr>
              <a:t>Resume rewrite</a:t>
            </a:r>
            <a:endParaRPr lang="en-US" sz="900" dirty="0"/>
          </a:p>
        </p:txBody>
      </p:sp>
      <p:sp>
        <p:nvSpPr>
          <p:cNvPr id="12" name="Shape 10"/>
          <p:cNvSpPr/>
          <p:nvPr/>
        </p:nvSpPr>
        <p:spPr>
          <a:xfrm>
            <a:off x="2825496" y="1371600"/>
            <a:ext cx="1078992" cy="1828800"/>
          </a:xfrm>
          <a:prstGeom prst="roundRect">
            <a:avLst>
              <a:gd name="adj" fmla="val 7627"/>
            </a:avLst>
          </a:prstGeom>
          <a:solidFill>
            <a:srgbClr val="1C2128"/>
          </a:solidFill>
          <a:ln w="6350">
            <a:solidFill>
              <a:srgbClr val="30363D"/>
            </a:solidFill>
            <a:prstDash val="solid"/>
          </a:ln>
        </p:spPr>
      </p:sp>
      <p:sp>
        <p:nvSpPr>
          <p:cNvPr id="13" name="Text 11"/>
          <p:cNvSpPr/>
          <p:nvPr/>
        </p:nvSpPr>
        <p:spPr>
          <a:xfrm>
            <a:off x="2825496" y="1463040"/>
            <a:ext cx="1078992" cy="274320"/>
          </a:xfrm>
          <a:prstGeom prst="rect">
            <a:avLst/>
          </a:prstGeom>
          <a:noFill/>
          <a:ln/>
        </p:spPr>
        <p:txBody>
          <a:bodyPr wrap="square" lIns="0" tIns="0" rIns="0" bIns="0" rtlCol="0" anchor="ctr"/>
          <a:lstStyle/>
          <a:p>
            <a:pPr algn="ctr" indent="0" marL="0">
              <a:buNone/>
            </a:pPr>
            <a:r>
              <a:rPr lang="en-US" sz="1000" b="1" dirty="0">
                <a:solidFill>
                  <a:srgbClr val="C3F73A"/>
                </a:solidFill>
              </a:rPr>
              <a:t>WED</a:t>
            </a:r>
            <a:endParaRPr lang="en-US" sz="1000" dirty="0"/>
          </a:p>
        </p:txBody>
      </p:sp>
      <p:sp>
        <p:nvSpPr>
          <p:cNvPr id="14" name="Text 12"/>
          <p:cNvSpPr/>
          <p:nvPr/>
        </p:nvSpPr>
        <p:spPr>
          <a:xfrm>
            <a:off x="2880360" y="1773936"/>
            <a:ext cx="969264" cy="384048"/>
          </a:xfrm>
          <a:prstGeom prst="rect">
            <a:avLst/>
          </a:prstGeom>
          <a:noFill/>
          <a:ln/>
        </p:spPr>
        <p:txBody>
          <a:bodyPr wrap="square" lIns="0" tIns="0" rIns="0" bIns="0" rtlCol="0" anchor="ctr"/>
          <a:lstStyle/>
          <a:p>
            <a:pPr algn="ctr" indent="0" marL="0">
              <a:buNone/>
            </a:pPr>
            <a:r>
              <a:rPr lang="en-US" sz="1000" b="1" dirty="0">
                <a:solidFill>
                  <a:srgbClr val="FFFFFF"/>
                </a:solidFill>
              </a:rPr>
              <a:t>Writing Battle</a:t>
            </a:r>
            <a:endParaRPr lang="en-US" sz="1000" dirty="0"/>
          </a:p>
        </p:txBody>
      </p:sp>
      <p:sp>
        <p:nvSpPr>
          <p:cNvPr id="15" name="Text 13"/>
          <p:cNvSpPr/>
          <p:nvPr/>
        </p:nvSpPr>
        <p:spPr>
          <a:xfrm>
            <a:off x="2880360" y="2194560"/>
            <a:ext cx="969264" cy="685800"/>
          </a:xfrm>
          <a:prstGeom prst="rect">
            <a:avLst/>
          </a:prstGeom>
          <a:noFill/>
          <a:ln/>
        </p:spPr>
        <p:txBody>
          <a:bodyPr wrap="square" lIns="0" tIns="0" rIns="0" bIns="0" rtlCol="0" anchor="ctr"/>
          <a:lstStyle/>
          <a:p>
            <a:pPr algn="ctr" indent="0" marL="0">
              <a:lnSpc>
                <a:spcPct val="130000"/>
              </a:lnSpc>
              <a:buNone/>
            </a:pPr>
            <a:r>
              <a:rPr lang="en-US" sz="900" dirty="0">
                <a:solidFill>
                  <a:srgbClr val="8B949E"/>
                </a:solidFill>
              </a:rPr>
              <a:t>Reddit post</a:t>
            </a:r>
            <a:endParaRPr lang="en-US" sz="900" dirty="0"/>
          </a:p>
        </p:txBody>
      </p:sp>
      <p:sp>
        <p:nvSpPr>
          <p:cNvPr id="16" name="Shape 14"/>
          <p:cNvSpPr/>
          <p:nvPr/>
        </p:nvSpPr>
        <p:spPr>
          <a:xfrm>
            <a:off x="4032504" y="1371600"/>
            <a:ext cx="1078992" cy="1828800"/>
          </a:xfrm>
          <a:prstGeom prst="roundRect">
            <a:avLst>
              <a:gd name="adj" fmla="val 7627"/>
            </a:avLst>
          </a:prstGeom>
          <a:solidFill>
            <a:srgbClr val="1C2128"/>
          </a:solidFill>
          <a:ln w="6350">
            <a:solidFill>
              <a:srgbClr val="30363D"/>
            </a:solidFill>
            <a:prstDash val="solid"/>
          </a:ln>
        </p:spPr>
      </p:sp>
      <p:sp>
        <p:nvSpPr>
          <p:cNvPr id="17" name="Text 15"/>
          <p:cNvSpPr/>
          <p:nvPr/>
        </p:nvSpPr>
        <p:spPr>
          <a:xfrm>
            <a:off x="4032504" y="1463040"/>
            <a:ext cx="1078992" cy="274320"/>
          </a:xfrm>
          <a:prstGeom prst="rect">
            <a:avLst/>
          </a:prstGeom>
          <a:noFill/>
          <a:ln/>
        </p:spPr>
        <p:txBody>
          <a:bodyPr wrap="square" lIns="0" tIns="0" rIns="0" bIns="0" rtlCol="0" anchor="ctr"/>
          <a:lstStyle/>
          <a:p>
            <a:pPr algn="ctr" indent="0" marL="0">
              <a:buNone/>
            </a:pPr>
            <a:r>
              <a:rPr lang="en-US" sz="1000" b="1" dirty="0">
                <a:solidFill>
                  <a:srgbClr val="58A6FF"/>
                </a:solidFill>
              </a:rPr>
              <a:t>THU</a:t>
            </a:r>
            <a:endParaRPr lang="en-US" sz="1000" dirty="0"/>
          </a:p>
        </p:txBody>
      </p:sp>
      <p:sp>
        <p:nvSpPr>
          <p:cNvPr id="18" name="Text 16"/>
          <p:cNvSpPr/>
          <p:nvPr/>
        </p:nvSpPr>
        <p:spPr>
          <a:xfrm>
            <a:off x="4087368" y="1773936"/>
            <a:ext cx="969264" cy="384048"/>
          </a:xfrm>
          <a:prstGeom prst="rect">
            <a:avLst/>
          </a:prstGeom>
          <a:noFill/>
          <a:ln/>
        </p:spPr>
        <p:txBody>
          <a:bodyPr wrap="square" lIns="0" tIns="0" rIns="0" bIns="0" rtlCol="0" anchor="ctr"/>
          <a:lstStyle/>
          <a:p>
            <a:pPr algn="ctr" indent="0" marL="0">
              <a:buNone/>
            </a:pPr>
            <a:r>
              <a:rPr lang="en-US" sz="1000" b="1" dirty="0">
                <a:solidFill>
                  <a:srgbClr val="FFFFFF"/>
                </a:solidFill>
              </a:rPr>
              <a:t>Research Battle</a:t>
            </a:r>
            <a:endParaRPr lang="en-US" sz="1000" dirty="0"/>
          </a:p>
        </p:txBody>
      </p:sp>
      <p:sp>
        <p:nvSpPr>
          <p:cNvPr id="19" name="Text 17"/>
          <p:cNvSpPr/>
          <p:nvPr/>
        </p:nvSpPr>
        <p:spPr>
          <a:xfrm>
            <a:off x="4087368" y="2194560"/>
            <a:ext cx="969264" cy="685800"/>
          </a:xfrm>
          <a:prstGeom prst="rect">
            <a:avLst/>
          </a:prstGeom>
          <a:noFill/>
          <a:ln/>
        </p:spPr>
        <p:txBody>
          <a:bodyPr wrap="square" lIns="0" tIns="0" rIns="0" bIns="0" rtlCol="0" anchor="ctr"/>
          <a:lstStyle/>
          <a:p>
            <a:pPr algn="ctr" indent="0" marL="0">
              <a:lnSpc>
                <a:spcPct val="130000"/>
              </a:lnSpc>
              <a:buNone/>
            </a:pPr>
            <a:r>
              <a:rPr lang="en-US" sz="900" dirty="0">
                <a:solidFill>
                  <a:srgbClr val="8B949E"/>
                </a:solidFill>
              </a:rPr>
              <a:t>Citation accuracy</a:t>
            </a:r>
            <a:endParaRPr lang="en-US" sz="900" dirty="0"/>
          </a:p>
        </p:txBody>
      </p:sp>
      <p:sp>
        <p:nvSpPr>
          <p:cNvPr id="20" name="Shape 18"/>
          <p:cNvSpPr/>
          <p:nvPr/>
        </p:nvSpPr>
        <p:spPr>
          <a:xfrm>
            <a:off x="5239512" y="1371600"/>
            <a:ext cx="1078992" cy="1828800"/>
          </a:xfrm>
          <a:prstGeom prst="roundRect">
            <a:avLst>
              <a:gd name="adj" fmla="val 7627"/>
            </a:avLst>
          </a:prstGeom>
          <a:solidFill>
            <a:srgbClr val="1A0A0A"/>
          </a:solidFill>
          <a:ln w="19050">
            <a:solidFill>
              <a:srgbClr val="F85149"/>
            </a:solidFill>
            <a:prstDash val="solid"/>
          </a:ln>
        </p:spPr>
      </p:sp>
      <p:sp>
        <p:nvSpPr>
          <p:cNvPr id="21" name="Text 19"/>
          <p:cNvSpPr/>
          <p:nvPr/>
        </p:nvSpPr>
        <p:spPr>
          <a:xfrm>
            <a:off x="5239512" y="1463040"/>
            <a:ext cx="1078992" cy="274320"/>
          </a:xfrm>
          <a:prstGeom prst="rect">
            <a:avLst/>
          </a:prstGeom>
          <a:noFill/>
          <a:ln/>
        </p:spPr>
        <p:txBody>
          <a:bodyPr wrap="square" lIns="0" tIns="0" rIns="0" bIns="0" rtlCol="0" anchor="ctr"/>
          <a:lstStyle/>
          <a:p>
            <a:pPr algn="ctr" indent="0" marL="0">
              <a:buNone/>
            </a:pPr>
            <a:r>
              <a:rPr lang="en-US" sz="1000" b="1" dirty="0">
                <a:solidFill>
                  <a:srgbClr val="F85149"/>
                </a:solidFill>
              </a:rPr>
              <a:t>FRI</a:t>
            </a:r>
            <a:endParaRPr lang="en-US" sz="1000" dirty="0"/>
          </a:p>
        </p:txBody>
      </p:sp>
      <p:sp>
        <p:nvSpPr>
          <p:cNvPr id="22" name="Text 20"/>
          <p:cNvSpPr/>
          <p:nvPr/>
        </p:nvSpPr>
        <p:spPr>
          <a:xfrm>
            <a:off x="5294376" y="1773936"/>
            <a:ext cx="969264" cy="384048"/>
          </a:xfrm>
          <a:prstGeom prst="rect">
            <a:avLst/>
          </a:prstGeom>
          <a:noFill/>
          <a:ln/>
        </p:spPr>
        <p:txBody>
          <a:bodyPr wrap="square" lIns="0" tIns="0" rIns="0" bIns="0" rtlCol="0" anchor="ctr"/>
          <a:lstStyle/>
          <a:p>
            <a:pPr algn="ctr" indent="0" marL="0">
              <a:buNone/>
            </a:pPr>
            <a:r>
              <a:rPr lang="en-US" sz="1000" b="1" dirty="0">
                <a:solidFill>
                  <a:srgbClr val="FFFFFF"/>
                </a:solidFill>
              </a:rPr>
              <a:t>Roast Battle 🔥</a:t>
            </a:r>
            <a:endParaRPr lang="en-US" sz="1000" dirty="0"/>
          </a:p>
        </p:txBody>
      </p:sp>
      <p:sp>
        <p:nvSpPr>
          <p:cNvPr id="23" name="Text 21"/>
          <p:cNvSpPr/>
          <p:nvPr/>
        </p:nvSpPr>
        <p:spPr>
          <a:xfrm>
            <a:off x="5294376" y="2194560"/>
            <a:ext cx="969264" cy="685800"/>
          </a:xfrm>
          <a:prstGeom prst="rect">
            <a:avLst/>
          </a:prstGeom>
          <a:noFill/>
          <a:ln/>
        </p:spPr>
        <p:txBody>
          <a:bodyPr wrap="square" lIns="0" tIns="0" rIns="0" bIns="0" rtlCol="0" anchor="ctr"/>
          <a:lstStyle/>
          <a:p>
            <a:pPr algn="ctr" indent="0" marL="0">
              <a:lnSpc>
                <a:spcPct val="130000"/>
              </a:lnSpc>
              <a:buNone/>
            </a:pPr>
            <a:r>
              <a:rPr lang="en-US" sz="900" dirty="0">
                <a:solidFill>
                  <a:srgbClr val="8B949E"/>
                </a:solidFill>
              </a:rPr>
              <a:t>Cringe LinkedIn post</a:t>
            </a:r>
            <a:endParaRPr lang="en-US" sz="900" dirty="0"/>
          </a:p>
        </p:txBody>
      </p:sp>
      <p:sp>
        <p:nvSpPr>
          <p:cNvPr id="24" name="Shape 22"/>
          <p:cNvSpPr/>
          <p:nvPr/>
        </p:nvSpPr>
        <p:spPr>
          <a:xfrm>
            <a:off x="6446520" y="1371600"/>
            <a:ext cx="1078992" cy="1828800"/>
          </a:xfrm>
          <a:prstGeom prst="roundRect">
            <a:avLst>
              <a:gd name="adj" fmla="val 7627"/>
            </a:avLst>
          </a:prstGeom>
          <a:solidFill>
            <a:srgbClr val="1C2128"/>
          </a:solidFill>
          <a:ln w="6350">
            <a:solidFill>
              <a:srgbClr val="30363D"/>
            </a:solidFill>
            <a:prstDash val="solid"/>
          </a:ln>
        </p:spPr>
      </p:sp>
      <p:sp>
        <p:nvSpPr>
          <p:cNvPr id="25" name="Text 23"/>
          <p:cNvSpPr/>
          <p:nvPr/>
        </p:nvSpPr>
        <p:spPr>
          <a:xfrm>
            <a:off x="6446520" y="1463040"/>
            <a:ext cx="1078992" cy="274320"/>
          </a:xfrm>
          <a:prstGeom prst="rect">
            <a:avLst/>
          </a:prstGeom>
          <a:noFill/>
          <a:ln/>
        </p:spPr>
        <p:txBody>
          <a:bodyPr wrap="square" lIns="0" tIns="0" rIns="0" bIns="0" rtlCol="0" anchor="ctr"/>
          <a:lstStyle/>
          <a:p>
            <a:pPr algn="ctr" indent="0" marL="0">
              <a:buNone/>
            </a:pPr>
            <a:r>
              <a:rPr lang="en-US" sz="1000" b="1" dirty="0">
                <a:solidFill>
                  <a:srgbClr val="D2A8FF"/>
                </a:solidFill>
              </a:rPr>
              <a:t>SAT</a:t>
            </a:r>
            <a:endParaRPr lang="en-US" sz="1000" dirty="0"/>
          </a:p>
        </p:txBody>
      </p:sp>
      <p:sp>
        <p:nvSpPr>
          <p:cNvPr id="26" name="Text 24"/>
          <p:cNvSpPr/>
          <p:nvPr/>
        </p:nvSpPr>
        <p:spPr>
          <a:xfrm>
            <a:off x="6501384" y="1773936"/>
            <a:ext cx="969264" cy="384048"/>
          </a:xfrm>
          <a:prstGeom prst="rect">
            <a:avLst/>
          </a:prstGeom>
          <a:noFill/>
          <a:ln/>
        </p:spPr>
        <p:txBody>
          <a:bodyPr wrap="square" lIns="0" tIns="0" rIns="0" bIns="0" rtlCol="0" anchor="ctr"/>
          <a:lstStyle/>
          <a:p>
            <a:pPr algn="ctr" indent="0" marL="0">
              <a:buNone/>
            </a:pPr>
            <a:r>
              <a:rPr lang="en-US" sz="1000" b="1" dirty="0">
                <a:solidFill>
                  <a:srgbClr val="FFFFFF"/>
                </a:solidFill>
              </a:rPr>
              <a:t>Creator Battle</a:t>
            </a:r>
            <a:endParaRPr lang="en-US" sz="1000" dirty="0"/>
          </a:p>
        </p:txBody>
      </p:sp>
      <p:sp>
        <p:nvSpPr>
          <p:cNvPr id="27" name="Text 25"/>
          <p:cNvSpPr/>
          <p:nvPr/>
        </p:nvSpPr>
        <p:spPr>
          <a:xfrm>
            <a:off x="6501384" y="2194560"/>
            <a:ext cx="969264" cy="685800"/>
          </a:xfrm>
          <a:prstGeom prst="rect">
            <a:avLst/>
          </a:prstGeom>
          <a:noFill/>
          <a:ln/>
        </p:spPr>
        <p:txBody>
          <a:bodyPr wrap="square" lIns="0" tIns="0" rIns="0" bIns="0" rtlCol="0" anchor="ctr"/>
          <a:lstStyle/>
          <a:p>
            <a:pPr algn="ctr" indent="0" marL="0">
              <a:lnSpc>
                <a:spcPct val="130000"/>
              </a:lnSpc>
              <a:buNone/>
            </a:pPr>
            <a:r>
              <a:rPr lang="en-US" sz="900" dirty="0">
                <a:solidFill>
                  <a:srgbClr val="8B949E"/>
                </a:solidFill>
              </a:rPr>
              <a:t>Instagram caption</a:t>
            </a:r>
            <a:endParaRPr lang="en-US" sz="900" dirty="0"/>
          </a:p>
        </p:txBody>
      </p:sp>
      <p:sp>
        <p:nvSpPr>
          <p:cNvPr id="28" name="Shape 26"/>
          <p:cNvSpPr/>
          <p:nvPr/>
        </p:nvSpPr>
        <p:spPr>
          <a:xfrm>
            <a:off x="7653528" y="1371600"/>
            <a:ext cx="1078992" cy="1828800"/>
          </a:xfrm>
          <a:prstGeom prst="roundRect">
            <a:avLst>
              <a:gd name="adj" fmla="val 7627"/>
            </a:avLst>
          </a:prstGeom>
          <a:solidFill>
            <a:srgbClr val="1C2128"/>
          </a:solidFill>
          <a:ln w="6350">
            <a:solidFill>
              <a:srgbClr val="30363D"/>
            </a:solidFill>
            <a:prstDash val="solid"/>
          </a:ln>
        </p:spPr>
      </p:sp>
      <p:sp>
        <p:nvSpPr>
          <p:cNvPr id="29" name="Text 27"/>
          <p:cNvSpPr/>
          <p:nvPr/>
        </p:nvSpPr>
        <p:spPr>
          <a:xfrm>
            <a:off x="7653528" y="1463040"/>
            <a:ext cx="1078992" cy="274320"/>
          </a:xfrm>
          <a:prstGeom prst="rect">
            <a:avLst/>
          </a:prstGeom>
          <a:noFill/>
          <a:ln/>
        </p:spPr>
        <p:txBody>
          <a:bodyPr wrap="square" lIns="0" tIns="0" rIns="0" bIns="0" rtlCol="0" anchor="ctr"/>
          <a:lstStyle/>
          <a:p>
            <a:pPr algn="ctr" indent="0" marL="0">
              <a:buNone/>
            </a:pPr>
            <a:r>
              <a:rPr lang="en-US" sz="1000" b="1" dirty="0">
                <a:solidFill>
                  <a:srgbClr val="3FB950"/>
                </a:solidFill>
              </a:rPr>
              <a:t>SUN</a:t>
            </a:r>
            <a:endParaRPr lang="en-US" sz="1000" dirty="0"/>
          </a:p>
        </p:txBody>
      </p:sp>
      <p:sp>
        <p:nvSpPr>
          <p:cNvPr id="30" name="Text 28"/>
          <p:cNvSpPr/>
          <p:nvPr/>
        </p:nvSpPr>
        <p:spPr>
          <a:xfrm>
            <a:off x="7708392" y="1773936"/>
            <a:ext cx="969264" cy="384048"/>
          </a:xfrm>
          <a:prstGeom prst="rect">
            <a:avLst/>
          </a:prstGeom>
          <a:noFill/>
          <a:ln/>
        </p:spPr>
        <p:txBody>
          <a:bodyPr wrap="square" lIns="0" tIns="0" rIns="0" bIns="0" rtlCol="0" anchor="ctr"/>
          <a:lstStyle/>
          <a:p>
            <a:pPr algn="ctr" indent="0" marL="0">
              <a:buNone/>
            </a:pPr>
            <a:r>
              <a:rPr lang="en-US" sz="1000" b="1" dirty="0">
                <a:solidFill>
                  <a:srgbClr val="FFFFFF"/>
                </a:solidFill>
              </a:rPr>
              <a:t>Championship</a:t>
            </a:r>
            <a:endParaRPr lang="en-US" sz="1000" dirty="0"/>
          </a:p>
        </p:txBody>
      </p:sp>
      <p:sp>
        <p:nvSpPr>
          <p:cNvPr id="31" name="Text 29"/>
          <p:cNvSpPr/>
          <p:nvPr/>
        </p:nvSpPr>
        <p:spPr>
          <a:xfrm>
            <a:off x="7708392" y="2194560"/>
            <a:ext cx="969264" cy="685800"/>
          </a:xfrm>
          <a:prstGeom prst="rect">
            <a:avLst/>
          </a:prstGeom>
          <a:noFill/>
          <a:ln/>
        </p:spPr>
        <p:txBody>
          <a:bodyPr wrap="square" lIns="0" tIns="0" rIns="0" bIns="0" rtlCol="0" anchor="ctr"/>
          <a:lstStyle/>
          <a:p>
            <a:pPr algn="ctr" indent="0" marL="0">
              <a:lnSpc>
                <a:spcPct val="130000"/>
              </a:lnSpc>
              <a:buNone/>
            </a:pPr>
            <a:r>
              <a:rPr lang="en-US" sz="900" dirty="0">
                <a:solidFill>
                  <a:srgbClr val="8B949E"/>
                </a:solidFill>
              </a:rPr>
              <a:t>Weekly winner</a:t>
            </a:r>
            <a:endParaRPr lang="en-US" sz="900" dirty="0"/>
          </a:p>
        </p:txBody>
      </p:sp>
      <p:sp>
        <p:nvSpPr>
          <p:cNvPr id="32" name="Text 30"/>
          <p:cNvSpPr/>
          <p:nvPr/>
        </p:nvSpPr>
        <p:spPr>
          <a:xfrm>
            <a:off x="594360" y="3337560"/>
            <a:ext cx="8046720" cy="256032"/>
          </a:xfrm>
          <a:prstGeom prst="rect">
            <a:avLst/>
          </a:prstGeom>
          <a:noFill/>
          <a:ln/>
        </p:spPr>
        <p:txBody>
          <a:bodyPr wrap="square" lIns="0" tIns="0" rIns="0" bIns="0" rtlCol="0" anchor="ctr"/>
          <a:lstStyle/>
          <a:p>
            <a:pPr indent="0" marL="0">
              <a:buNone/>
            </a:pPr>
            <a:r>
              <a:rPr lang="en-US" sz="1100" dirty="0">
                <a:solidFill>
                  <a:srgbClr val="8B949E"/>
                </a:solidFill>
              </a:rPr>
              <a:t>Friday is your viral engine. Fun battles get shared. Serious battles build SEO credibility. You need both.</a:t>
            </a:r>
            <a:endParaRPr lang="en-US" sz="1100" dirty="0"/>
          </a:p>
        </p:txBody>
      </p:sp>
      <p:sp>
        <p:nvSpPr>
          <p:cNvPr id="33" name="Shape 31"/>
          <p:cNvSpPr/>
          <p:nvPr/>
        </p:nvSpPr>
        <p:spPr>
          <a:xfrm>
            <a:off x="502920" y="3703320"/>
            <a:ext cx="8321040" cy="1188720"/>
          </a:xfrm>
          <a:prstGeom prst="roundRect">
            <a:avLst>
              <a:gd name="adj" fmla="val 6923"/>
            </a:avLst>
          </a:prstGeom>
          <a:solidFill>
            <a:srgbClr val="1C2128"/>
          </a:solidFill>
          <a:ln w="6350">
            <a:solidFill>
              <a:srgbClr val="30363D"/>
            </a:solidFill>
            <a:prstDash val="solid"/>
          </a:ln>
        </p:spPr>
      </p:sp>
      <p:sp>
        <p:nvSpPr>
          <p:cNvPr id="34" name="Text 32"/>
          <p:cNvSpPr/>
          <p:nvPr/>
        </p:nvSpPr>
        <p:spPr>
          <a:xfrm>
            <a:off x="685800" y="3767328"/>
            <a:ext cx="7772400" cy="228600"/>
          </a:xfrm>
          <a:prstGeom prst="rect">
            <a:avLst/>
          </a:prstGeom>
          <a:noFill/>
          <a:ln/>
        </p:spPr>
        <p:txBody>
          <a:bodyPr wrap="square" lIns="0" tIns="0" rIns="0" bIns="0" rtlCol="0" anchor="ctr"/>
          <a:lstStyle/>
          <a:p>
            <a:pPr indent="0" marL="0">
              <a:buNone/>
            </a:pPr>
            <a:r>
              <a:rPr lang="en-US" sz="1000" b="1" dirty="0">
                <a:solidFill>
                  <a:srgbClr val="C3F73A"/>
                </a:solidFill>
              </a:rPr>
              <a:t>PLAYER TITLES  —  earned, shared, addictive</a:t>
            </a:r>
            <a:endParaRPr lang="en-US" sz="1000" dirty="0"/>
          </a:p>
        </p:txBody>
      </p:sp>
      <p:sp>
        <p:nvSpPr>
          <p:cNvPr id="35" name="Text 33"/>
          <p:cNvSpPr/>
          <p:nvPr/>
        </p:nvSpPr>
        <p:spPr>
          <a:xfrm>
            <a:off x="685800" y="4041648"/>
            <a:ext cx="7863840" cy="685800"/>
          </a:xfrm>
          <a:prstGeom prst="rect">
            <a:avLst/>
          </a:prstGeom>
          <a:noFill/>
          <a:ln/>
        </p:spPr>
        <p:txBody>
          <a:bodyPr wrap="square" lIns="0" tIns="0" rIns="0" bIns="0" rtlCol="0" anchor="ctr"/>
          <a:lstStyle/>
          <a:p>
            <a:pPr indent="0" marL="0">
              <a:lnSpc>
                <a:spcPct val="150000"/>
              </a:lnSpc>
              <a:buNone/>
            </a:pPr>
            <a:r>
              <a:rPr lang="en-US" sz="1000" dirty="0">
                <a:solidFill>
                  <a:srgbClr val="8B949E"/>
                </a:solidFill>
              </a:rPr>
              <a:t>🎯 Model Sniper — 10 correct model guesses     🔥 Crowd Reader — predicted winner 7×     ⚡ Bias Breaker — picked 4 different models in a week     👑 Claude Loyalist — pattern detected in your votes     💀 Both Bad Champion — picked neither 5× in a row</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THE LANDSCAPE</a:t>
            </a:r>
            <a:endParaRPr lang="en-US" sz="1000" dirty="0"/>
          </a:p>
        </p:txBody>
      </p:sp>
      <p:sp>
        <p:nvSpPr>
          <p:cNvPr id="3" name="Text 1"/>
          <p:cNvSpPr/>
          <p:nvPr/>
        </p:nvSpPr>
        <p:spPr>
          <a:xfrm>
            <a:off x="594360" y="658368"/>
            <a:ext cx="7772400" cy="109728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rPr>
              <a:t>One big validator.</a:t>
            </a:r>
            <a:endParaRPr lang="en-US" sz="3400" dirty="0"/>
          </a:p>
          <a:p>
            <a:pPr indent="0" marL="0">
              <a:lnSpc>
                <a:spcPct val="120000"/>
              </a:lnSpc>
              <a:buNone/>
            </a:pPr>
            <a:r>
              <a:rPr lang="en-US" sz="3400" b="1" dirty="0">
                <a:solidFill>
                  <a:srgbClr val="FFFFFF"/>
                </a:solidFill>
              </a:rPr>
              <a:t>Zero consumer competitors.</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8321040" cy="2377440"/>
        </p:xfrm>
        <a:graphic>
          <a:graphicData uri="http://schemas.openxmlformats.org/drawingml/2006/table">
            <a:tbl>
              <a:tblPr/>
              <a:tblGrid>
                <a:gridCol w="1554480"/>
                <a:gridCol w="1005840"/>
                <a:gridCol w="1143000"/>
                <a:gridCol w="1005840"/>
                <a:gridCol w="1005840"/>
                <a:gridCol w="1143000"/>
                <a:gridCol w="1097280"/>
              </a:tblGrid>
              <a:tr h="420624">
                <a:tc>
                  <a:txBody>
                    <a:bodyPr/>
                    <a:lstStyle/>
                    <a:p>
                      <a:pPr indent="0" marL="0">
                        <a:buNone/>
                      </a:pPr>
                      <a:r>
                        <a:rPr lang="en-US" sz="1000" b="1" dirty="0">
                          <a:solidFill>
                            <a:srgbClr val="FFFFFF"/>
                          </a:solidFill>
                        </a:rPr>
                        <a:t>Platform</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00" b="1" dirty="0">
                          <a:solidFill>
                            <a:srgbClr val="FFFFFF"/>
                          </a:solidFill>
                        </a:rPr>
                        <a:t>Blind votes</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00" b="1" dirty="0">
                          <a:solidFill>
                            <a:srgbClr val="FFFFFF"/>
                          </a:solidFill>
                        </a:rPr>
                        <a:t>Task-specific</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00" b="1" dirty="0">
                          <a:solidFill>
                            <a:srgbClr val="FFFFFF"/>
                          </a:solidFill>
                        </a:rPr>
                        <a:t>SEO engine</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00" b="1" dirty="0">
                          <a:solidFill>
                            <a:srgbClr val="FFFFFF"/>
                          </a:solidFill>
                        </a:rPr>
                        <a:t>Game/streak</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00" b="1" dirty="0">
                          <a:solidFill>
                            <a:srgbClr val="FFFFFF"/>
                          </a:solidFill>
                        </a:rPr>
                        <a:t>Neither option</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00" b="1" dirty="0">
                          <a:solidFill>
                            <a:srgbClr val="FFFFFF"/>
                          </a:solidFill>
                        </a:rPr>
                        <a:t>Brand</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1262D"/>
                    </a:solidFill>
                  </a:tcPr>
                </a:tc>
              </a:tr>
              <a:tr h="420624">
                <a:tc>
                  <a:txBody>
                    <a:bodyPr/>
                    <a:lstStyle/>
                    <a:p>
                      <a:pPr indent="0" marL="0">
                        <a:buNone/>
                      </a:pPr>
                      <a:r>
                        <a:rPr lang="en-US" sz="1000" dirty="0">
                          <a:solidFill>
                            <a:srgbClr val="FFFFFF"/>
                          </a:solidFill>
                        </a:rPr>
                        <a:t>Arena.ai</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3FB950"/>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FFFFF"/>
                          </a:solidFill>
                        </a:rPr>
                        <a:t>Partial*</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FFFFF"/>
                          </a:solidFill>
                        </a:rPr>
                        <a:t>Academic</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r>
              <a:tr h="420624">
                <a:tc>
                  <a:txBody>
                    <a:bodyPr/>
                    <a:lstStyle/>
                    <a:p>
                      <a:pPr indent="0" marL="0">
                        <a:buNone/>
                      </a:pPr>
                      <a:r>
                        <a:rPr lang="en-US" sz="1000" dirty="0">
                          <a:solidFill>
                            <a:srgbClr val="FFFFFF"/>
                          </a:solidFill>
                        </a:rPr>
                        <a:t>rival.tips</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3FB950"/>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FFFFF"/>
                          </a:solidFill>
                        </a:rPr>
                        <a:t>Partial</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FFFFF"/>
                          </a:solidFill>
                        </a:rPr>
                        <a:t>Niche</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r>
              <a:tr h="420624">
                <a:tc>
                  <a:txBody>
                    <a:bodyPr/>
                    <a:lstStyle/>
                    <a:p>
                      <a:pPr indent="0" marL="0">
                        <a:buNone/>
                      </a:pPr>
                      <a:r>
                        <a:rPr lang="en-US" sz="1000" dirty="0">
                          <a:solidFill>
                            <a:srgbClr val="FFFFFF"/>
                          </a:solidFill>
                        </a:rPr>
                        <a:t>Vellum/llm-stats</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3FB950"/>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85149"/>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c>
                  <a:txBody>
                    <a:bodyPr/>
                    <a:lstStyle/>
                    <a:p>
                      <a:pPr indent="0" marL="0">
                        <a:buNone/>
                      </a:pPr>
                      <a:r>
                        <a:rPr lang="en-US" sz="1000" dirty="0">
                          <a:solidFill>
                            <a:srgbClr val="FFFFFF"/>
                          </a:solidFill>
                        </a:rPr>
                        <a:t>Technical</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128"/>
                    </a:solidFill>
                  </a:tcPr>
                </a:tc>
              </a:tr>
              <a:tr h="420624">
                <a:tc>
                  <a:txBody>
                    <a:bodyPr/>
                    <a:lstStyle/>
                    <a:p>
                      <a:pPr indent="0" marL="0">
                        <a:buNone/>
                      </a:pPr>
                      <a:r>
                        <a:rPr lang="en-US" sz="1000" b="1" dirty="0">
                          <a:solidFill>
                            <a:srgbClr val="C3F73A"/>
                          </a:solidFill>
                        </a:rPr>
                        <a:t>GuessTheModel ←</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F05"/>
                    </a:solidFill>
                  </a:tcPr>
                </a:tc>
                <a:tc>
                  <a:txBody>
                    <a:bodyPr/>
                    <a:lstStyle/>
                    <a:p>
                      <a:pPr indent="0" marL="0">
                        <a:buNone/>
                      </a:pPr>
                      <a:r>
                        <a:rPr lang="en-US" sz="1000" b="1" dirty="0">
                          <a:solidFill>
                            <a:srgbClr val="C3F73A"/>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F05"/>
                    </a:solidFill>
                  </a:tcPr>
                </a:tc>
                <a:tc>
                  <a:txBody>
                    <a:bodyPr/>
                    <a:lstStyle/>
                    <a:p>
                      <a:pPr indent="0" marL="0">
                        <a:buNone/>
                      </a:pPr>
                      <a:r>
                        <a:rPr lang="en-US" sz="1000" b="1" dirty="0">
                          <a:solidFill>
                            <a:srgbClr val="C3F73A"/>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F05"/>
                    </a:solidFill>
                  </a:tcPr>
                </a:tc>
                <a:tc>
                  <a:txBody>
                    <a:bodyPr/>
                    <a:lstStyle/>
                    <a:p>
                      <a:pPr indent="0" marL="0">
                        <a:buNone/>
                      </a:pPr>
                      <a:r>
                        <a:rPr lang="en-US" sz="1000" b="1" dirty="0">
                          <a:solidFill>
                            <a:srgbClr val="C3F73A"/>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F05"/>
                    </a:solidFill>
                  </a:tcPr>
                </a:tc>
                <a:tc>
                  <a:txBody>
                    <a:bodyPr/>
                    <a:lstStyle/>
                    <a:p>
                      <a:pPr indent="0" marL="0">
                        <a:buNone/>
                      </a:pPr>
                      <a:r>
                        <a:rPr lang="en-US" sz="1000" b="1" dirty="0">
                          <a:solidFill>
                            <a:srgbClr val="C3F73A"/>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F05"/>
                    </a:solidFill>
                  </a:tcPr>
                </a:tc>
                <a:tc>
                  <a:txBody>
                    <a:bodyPr/>
                    <a:lstStyle/>
                    <a:p>
                      <a:pPr indent="0" marL="0">
                        <a:buNone/>
                      </a:pPr>
                      <a:r>
                        <a:rPr lang="en-US" sz="1000" b="1" dirty="0">
                          <a:solidFill>
                            <a:srgbClr val="C3F73A"/>
                          </a:solidFill>
                        </a:rPr>
                        <a:t>✓</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F05"/>
                    </a:solidFill>
                  </a:tcPr>
                </a:tc>
                <a:tc>
                  <a:txBody>
                    <a:bodyPr/>
                    <a:lstStyle/>
                    <a:p>
                      <a:pPr indent="0" marL="0">
                        <a:buNone/>
                      </a:pPr>
                      <a:r>
                        <a:rPr lang="en-US" sz="1000" b="1" dirty="0">
                          <a:solidFill>
                            <a:srgbClr val="C3F73A"/>
                          </a:solidFill>
                        </a:rPr>
                        <a:t>Consumer</a:t>
                      </a:r>
                      <a:endParaRPr lang="en-US" sz="1000" dirty="0"/>
                    </a:p>
                  </a:txBody>
                  <a:tcPr marL="91440" marR="91440" marT="45720" marB="45720">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F05"/>
                    </a:solidFill>
                  </a:tcPr>
                </a:tc>
              </a:tr>
            </a:tbl>
          </a:graphicData>
        </a:graphic>
      </p:graphicFrame>
      <p:sp>
        <p:nvSpPr>
          <p:cNvPr id="5" name="Text 2"/>
          <p:cNvSpPr/>
          <p:nvPr/>
        </p:nvSpPr>
        <p:spPr>
          <a:xfrm>
            <a:off x="594360" y="4343400"/>
            <a:ext cx="8046720" cy="256032"/>
          </a:xfrm>
          <a:prstGeom prst="rect">
            <a:avLst/>
          </a:prstGeom>
          <a:noFill/>
          <a:ln/>
        </p:spPr>
        <p:txBody>
          <a:bodyPr wrap="square" lIns="0" tIns="0" rIns="0" bIns="0" rtlCol="0" anchor="ctr"/>
          <a:lstStyle/>
          <a:p>
            <a:pPr indent="0" marL="0">
              <a:buNone/>
            </a:pPr>
            <a:r>
              <a:rPr lang="en-US" sz="950" dirty="0">
                <a:solidFill>
                  <a:srgbClr val="6E7681"/>
                </a:solidFill>
              </a:rPr>
              <a:t>*Arena has broad category tabs (Code, Chat, Agent) but not task-specific battles. 'Best AI for fixing a Supabase RLS error' does not exist there.</a:t>
            </a:r>
            <a:endParaRPr lang="en-US" sz="950" dirty="0"/>
          </a:p>
        </p:txBody>
      </p:sp>
      <p:sp>
        <p:nvSpPr>
          <p:cNvPr id="6" name="Text 3"/>
          <p:cNvSpPr/>
          <p:nvPr/>
        </p:nvSpPr>
        <p:spPr>
          <a:xfrm>
            <a:off x="594360" y="4645152"/>
            <a:ext cx="8046720" cy="256032"/>
          </a:xfrm>
          <a:prstGeom prst="rect">
            <a:avLst/>
          </a:prstGeom>
          <a:noFill/>
          <a:ln/>
        </p:spPr>
        <p:txBody>
          <a:bodyPr wrap="square" lIns="0" tIns="0" rIns="0" bIns="0" rtlCol="0" anchor="ctr"/>
          <a:lstStyle/>
          <a:p>
            <a:pPr indent="0" marL="0">
              <a:buNone/>
            </a:pPr>
            <a:r>
              <a:rPr lang="en-US" sz="950" dirty="0">
                <a:solidFill>
                  <a:srgbClr val="6E7681"/>
                </a:solidFill>
              </a:rPr>
              <a:t>Arena.ai: $100M raised May 2025 · $1.7B valuation Jan 2026 · backed by a16z, Lightspeed, Kleiner Perkins. They validated the market. The consumer version doesn't exist yet.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SEO STRATEGY</a:t>
            </a:r>
            <a:endParaRPr lang="en-US" sz="1000" dirty="0"/>
          </a:p>
        </p:txBody>
      </p:sp>
      <p:sp>
        <p:nvSpPr>
          <p:cNvPr id="3" name="Text 1"/>
          <p:cNvSpPr/>
          <p:nvPr/>
        </p:nvSpPr>
        <p:spPr>
          <a:xfrm>
            <a:off x="594360" y="658368"/>
            <a:ext cx="7772400" cy="118872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Every battle becomes a page</a:t>
            </a:r>
            <a:endParaRPr lang="en-US" sz="3200" dirty="0"/>
          </a:p>
          <a:p>
            <a:pPr indent="0" marL="0">
              <a:lnSpc>
                <a:spcPct val="120000"/>
              </a:lnSpc>
              <a:buNone/>
            </a:pPr>
            <a:r>
              <a:rPr lang="en-US" sz="3200" b="1" dirty="0">
                <a:solidFill>
                  <a:srgbClr val="FFFFFF"/>
                </a:solidFill>
              </a:rPr>
              <a:t>Google can't replace.</a:t>
            </a:r>
            <a:endParaRPr lang="en-US" sz="3200" dirty="0"/>
          </a:p>
        </p:txBody>
      </p:sp>
      <p:sp>
        <p:nvSpPr>
          <p:cNvPr id="4" name="Shape 2"/>
          <p:cNvSpPr/>
          <p:nvPr/>
        </p:nvSpPr>
        <p:spPr>
          <a:xfrm>
            <a:off x="411480" y="1920240"/>
            <a:ext cx="1965960" cy="2926080"/>
          </a:xfrm>
          <a:prstGeom prst="roundRect">
            <a:avLst>
              <a:gd name="adj" fmla="val 4186"/>
            </a:avLst>
          </a:prstGeom>
          <a:solidFill>
            <a:srgbClr val="1C2128"/>
          </a:solidFill>
          <a:ln w="6350">
            <a:solidFill>
              <a:srgbClr val="30363D"/>
            </a:solidFill>
            <a:prstDash val="solid"/>
          </a:ln>
        </p:spPr>
      </p:sp>
      <p:sp>
        <p:nvSpPr>
          <p:cNvPr id="5" name="Text 3"/>
          <p:cNvSpPr/>
          <p:nvPr/>
        </p:nvSpPr>
        <p:spPr>
          <a:xfrm>
            <a:off x="521208" y="2011680"/>
            <a:ext cx="1746504" cy="201168"/>
          </a:xfrm>
          <a:prstGeom prst="rect">
            <a:avLst/>
          </a:prstGeom>
          <a:noFill/>
          <a:ln/>
        </p:spPr>
        <p:txBody>
          <a:bodyPr wrap="square" lIns="0" tIns="0" rIns="0" bIns="0" rtlCol="0" anchor="ctr"/>
          <a:lstStyle/>
          <a:p>
            <a:pPr indent="0" marL="0">
              <a:buNone/>
            </a:pPr>
            <a:r>
              <a:rPr lang="en-US" sz="900" b="1" dirty="0">
                <a:solidFill>
                  <a:srgbClr val="C3F73A"/>
                </a:solidFill>
              </a:rPr>
              <a:t>Launch first</a:t>
            </a:r>
            <a:endParaRPr lang="en-US" sz="900" dirty="0"/>
          </a:p>
        </p:txBody>
      </p:sp>
      <p:sp>
        <p:nvSpPr>
          <p:cNvPr id="6" name="Text 4"/>
          <p:cNvSpPr/>
          <p:nvPr/>
        </p:nvSpPr>
        <p:spPr>
          <a:xfrm>
            <a:off x="521208" y="2231136"/>
            <a:ext cx="1746504" cy="292608"/>
          </a:xfrm>
          <a:prstGeom prst="rect">
            <a:avLst/>
          </a:prstGeom>
          <a:noFill/>
          <a:ln/>
        </p:spPr>
        <p:txBody>
          <a:bodyPr wrap="square" lIns="0" tIns="0" rIns="0" bIns="0" rtlCol="0" anchor="ctr"/>
          <a:lstStyle/>
          <a:p>
            <a:pPr indent="0" marL="0">
              <a:buNone/>
            </a:pPr>
            <a:r>
              <a:rPr lang="en-US" sz="1400" b="1" dirty="0">
                <a:solidFill>
                  <a:srgbClr val="FFFFFF"/>
                </a:solidFill>
              </a:rPr>
              <a:t>Coding</a:t>
            </a:r>
            <a:endParaRPr lang="en-US" sz="1400" dirty="0"/>
          </a:p>
        </p:txBody>
      </p:sp>
      <p:sp>
        <p:nvSpPr>
          <p:cNvPr id="7" name="Shape 5"/>
          <p:cNvSpPr/>
          <p:nvPr/>
        </p:nvSpPr>
        <p:spPr>
          <a:xfrm>
            <a:off x="521208" y="2578608"/>
            <a:ext cx="1719072" cy="0"/>
          </a:xfrm>
          <a:prstGeom prst="line">
            <a:avLst/>
          </a:prstGeom>
          <a:noFill/>
          <a:ln w="6350">
            <a:solidFill>
              <a:srgbClr val="30363D"/>
            </a:solidFill>
            <a:prstDash val="solid"/>
          </a:ln>
        </p:spPr>
      </p:sp>
      <p:sp>
        <p:nvSpPr>
          <p:cNvPr id="8" name="Text 6"/>
          <p:cNvSpPr/>
          <p:nvPr/>
        </p:nvSpPr>
        <p:spPr>
          <a:xfrm>
            <a:off x="521208" y="2670048"/>
            <a:ext cx="1746504" cy="2057400"/>
          </a:xfrm>
          <a:prstGeom prst="rect">
            <a:avLst/>
          </a:prstGeom>
          <a:noFill/>
          <a:ln/>
        </p:spPr>
        <p:txBody>
          <a:bodyPr wrap="square" lIns="0" tIns="0" rIns="0" bIns="0" rtlCol="0" anchor="ctr"/>
          <a:lstStyle/>
          <a:p>
            <a:pPr marL="342900" indent="-342900">
              <a:lnSpc>
                <a:spcPct val="140000"/>
              </a:lnSpc>
              <a:spcAft>
                <a:spcPts val="200"/>
              </a:spcAft>
              <a:buSzPct val="100000"/>
              <a:buChar char="•"/>
            </a:pPr>
            <a:r>
              <a:rPr lang="en-US" sz="950" dirty="0">
                <a:solidFill>
                  <a:srgbClr val="8B949E"/>
                </a:solidFill>
              </a:rPr>
              <a:t>best AI for fixing code errors</a:t>
            </a:r>
            <a:endParaRPr lang="en-US" sz="950" dirty="0"/>
          </a:p>
          <a:p>
            <a:pPr marL="342900" indent="-342900">
              <a:lnSpc>
                <a:spcPct val="140000"/>
              </a:lnSpc>
              <a:spcAft>
                <a:spcPts val="200"/>
              </a:spcAft>
              <a:buSzPct val="100000"/>
              <a:buChar char="•"/>
            </a:pPr>
            <a:r>
              <a:rPr lang="en-US" sz="950" dirty="0">
                <a:solidFill>
                  <a:srgbClr val="8B949E"/>
                </a:solidFill>
              </a:rPr>
              <a:t>Claude Code vs Cursor vs Codex</a:t>
            </a:r>
            <a:endParaRPr lang="en-US" sz="950" dirty="0"/>
          </a:p>
          <a:p>
            <a:pPr marL="342900" indent="-342900">
              <a:lnSpc>
                <a:spcPct val="140000"/>
              </a:lnSpc>
              <a:spcAft>
                <a:spcPts val="200"/>
              </a:spcAft>
              <a:buSzPct val="100000"/>
              <a:buChar char="•"/>
            </a:pPr>
            <a:r>
              <a:rPr lang="en-US" sz="950" dirty="0">
                <a:solidFill>
                  <a:srgbClr val="8B949E"/>
                </a:solidFill>
              </a:rPr>
              <a:t>best AI for Next.js / React / Supabase</a:t>
            </a:r>
            <a:endParaRPr lang="en-US" sz="950" dirty="0"/>
          </a:p>
          <a:p>
            <a:pPr marL="342900" indent="-342900">
              <a:lnSpc>
                <a:spcPct val="140000"/>
              </a:lnSpc>
              <a:spcAft>
                <a:spcPts val="200"/>
              </a:spcAft>
              <a:buSzPct val="100000"/>
              <a:buChar char="•"/>
            </a:pPr>
            <a:r>
              <a:rPr lang="en-US" sz="950" dirty="0">
                <a:solidFill>
                  <a:srgbClr val="8B949E"/>
                </a:solidFill>
              </a:rPr>
              <a:t>ChatGPT vs Claude for coding</a:t>
            </a:r>
            <a:endParaRPr lang="en-US" sz="950" dirty="0"/>
          </a:p>
          <a:p>
            <a:pPr marL="342900" indent="-342900">
              <a:lnSpc>
                <a:spcPct val="140000"/>
              </a:lnSpc>
              <a:spcAft>
                <a:spcPts val="200"/>
              </a:spcAft>
              <a:buSzPct val="100000"/>
              <a:buChar char="•"/>
            </a:pPr>
            <a:r>
              <a:rPr lang="en-US" sz="950" dirty="0">
                <a:solidFill>
                  <a:srgbClr val="8B949E"/>
                </a:solidFill>
              </a:rPr>
              <a:t>best AI for debugging</a:t>
            </a:r>
            <a:endParaRPr lang="en-US" sz="950" dirty="0"/>
          </a:p>
        </p:txBody>
      </p:sp>
      <p:sp>
        <p:nvSpPr>
          <p:cNvPr id="9" name="Shape 7"/>
          <p:cNvSpPr/>
          <p:nvPr/>
        </p:nvSpPr>
        <p:spPr>
          <a:xfrm>
            <a:off x="2532888" y="1920240"/>
            <a:ext cx="1965960" cy="2926080"/>
          </a:xfrm>
          <a:prstGeom prst="roundRect">
            <a:avLst>
              <a:gd name="adj" fmla="val 4186"/>
            </a:avLst>
          </a:prstGeom>
          <a:solidFill>
            <a:srgbClr val="1C2128"/>
          </a:solidFill>
          <a:ln w="6350">
            <a:solidFill>
              <a:srgbClr val="30363D"/>
            </a:solidFill>
            <a:prstDash val="solid"/>
          </a:ln>
        </p:spPr>
      </p:sp>
      <p:sp>
        <p:nvSpPr>
          <p:cNvPr id="10" name="Text 8"/>
          <p:cNvSpPr/>
          <p:nvPr/>
        </p:nvSpPr>
        <p:spPr>
          <a:xfrm>
            <a:off x="2642616" y="2011680"/>
            <a:ext cx="1746504" cy="201168"/>
          </a:xfrm>
          <a:prstGeom prst="rect">
            <a:avLst/>
          </a:prstGeom>
          <a:noFill/>
          <a:ln/>
        </p:spPr>
        <p:txBody>
          <a:bodyPr wrap="square" lIns="0" tIns="0" rIns="0" bIns="0" rtlCol="0" anchor="ctr"/>
          <a:lstStyle/>
          <a:p>
            <a:pPr indent="0" marL="0">
              <a:buNone/>
            </a:pPr>
            <a:r>
              <a:rPr lang="en-US" sz="900" b="1" dirty="0">
                <a:solidFill>
                  <a:srgbClr val="58A6FF"/>
                </a:solidFill>
              </a:rPr>
              <a:t>Month 1</a:t>
            </a:r>
            <a:endParaRPr lang="en-US" sz="900" dirty="0"/>
          </a:p>
        </p:txBody>
      </p:sp>
      <p:sp>
        <p:nvSpPr>
          <p:cNvPr id="11" name="Text 9"/>
          <p:cNvSpPr/>
          <p:nvPr/>
        </p:nvSpPr>
        <p:spPr>
          <a:xfrm>
            <a:off x="2642616" y="2231136"/>
            <a:ext cx="1746504" cy="292608"/>
          </a:xfrm>
          <a:prstGeom prst="rect">
            <a:avLst/>
          </a:prstGeom>
          <a:noFill/>
          <a:ln/>
        </p:spPr>
        <p:txBody>
          <a:bodyPr wrap="square" lIns="0" tIns="0" rIns="0" bIns="0" rtlCol="0" anchor="ctr"/>
          <a:lstStyle/>
          <a:p>
            <a:pPr indent="0" marL="0">
              <a:buNone/>
            </a:pPr>
            <a:r>
              <a:rPr lang="en-US" sz="1400" b="1" dirty="0">
                <a:solidFill>
                  <a:srgbClr val="FFFFFF"/>
                </a:solidFill>
              </a:rPr>
              <a:t>Career</a:t>
            </a:r>
            <a:endParaRPr lang="en-US" sz="1400" dirty="0"/>
          </a:p>
        </p:txBody>
      </p:sp>
      <p:sp>
        <p:nvSpPr>
          <p:cNvPr id="12" name="Shape 10"/>
          <p:cNvSpPr/>
          <p:nvPr/>
        </p:nvSpPr>
        <p:spPr>
          <a:xfrm>
            <a:off x="2642616" y="2578608"/>
            <a:ext cx="1719072" cy="0"/>
          </a:xfrm>
          <a:prstGeom prst="line">
            <a:avLst/>
          </a:prstGeom>
          <a:noFill/>
          <a:ln w="6350">
            <a:solidFill>
              <a:srgbClr val="30363D"/>
            </a:solidFill>
            <a:prstDash val="solid"/>
          </a:ln>
        </p:spPr>
      </p:sp>
      <p:sp>
        <p:nvSpPr>
          <p:cNvPr id="13" name="Text 11"/>
          <p:cNvSpPr/>
          <p:nvPr/>
        </p:nvSpPr>
        <p:spPr>
          <a:xfrm>
            <a:off x="2642616" y="2670048"/>
            <a:ext cx="1746504" cy="2057400"/>
          </a:xfrm>
          <a:prstGeom prst="rect">
            <a:avLst/>
          </a:prstGeom>
          <a:noFill/>
          <a:ln/>
        </p:spPr>
        <p:txBody>
          <a:bodyPr wrap="square" lIns="0" tIns="0" rIns="0" bIns="0" rtlCol="0" anchor="ctr"/>
          <a:lstStyle/>
          <a:p>
            <a:pPr marL="342900" indent="-342900">
              <a:lnSpc>
                <a:spcPct val="140000"/>
              </a:lnSpc>
              <a:spcAft>
                <a:spcPts val="200"/>
              </a:spcAft>
              <a:buSzPct val="100000"/>
              <a:buChar char="•"/>
            </a:pPr>
            <a:r>
              <a:rPr lang="en-US" sz="950" dirty="0">
                <a:solidFill>
                  <a:srgbClr val="8B949E"/>
                </a:solidFill>
              </a:rPr>
              <a:t>best AI resume builder</a:t>
            </a:r>
            <a:endParaRPr lang="en-US" sz="950" dirty="0"/>
          </a:p>
          <a:p>
            <a:pPr marL="342900" indent="-342900">
              <a:lnSpc>
                <a:spcPct val="140000"/>
              </a:lnSpc>
              <a:spcAft>
                <a:spcPts val="200"/>
              </a:spcAft>
              <a:buSzPct val="100000"/>
              <a:buChar char="•"/>
            </a:pPr>
            <a:r>
              <a:rPr lang="en-US" sz="950" dirty="0">
                <a:solidFill>
                  <a:srgbClr val="8B949E"/>
                </a:solidFill>
              </a:rPr>
              <a:t>best AI cover letter generator</a:t>
            </a:r>
            <a:endParaRPr lang="en-US" sz="950" dirty="0"/>
          </a:p>
          <a:p>
            <a:pPr marL="342900" indent="-342900">
              <a:lnSpc>
                <a:spcPct val="140000"/>
              </a:lnSpc>
              <a:spcAft>
                <a:spcPts val="200"/>
              </a:spcAft>
              <a:buSzPct val="100000"/>
              <a:buChar char="•"/>
            </a:pPr>
            <a:r>
              <a:rPr lang="en-US" sz="950" dirty="0">
                <a:solidFill>
                  <a:srgbClr val="8B949E"/>
                </a:solidFill>
              </a:rPr>
              <a:t>ChatGPT vs Claude for resumes</a:t>
            </a:r>
            <a:endParaRPr lang="en-US" sz="950" dirty="0"/>
          </a:p>
          <a:p>
            <a:pPr marL="342900" indent="-342900">
              <a:lnSpc>
                <a:spcPct val="140000"/>
              </a:lnSpc>
              <a:spcAft>
                <a:spcPts val="200"/>
              </a:spcAft>
              <a:buSzPct val="100000"/>
              <a:buChar char="•"/>
            </a:pPr>
            <a:r>
              <a:rPr lang="en-US" sz="950" dirty="0">
                <a:solidFill>
                  <a:srgbClr val="8B949E"/>
                </a:solidFill>
              </a:rPr>
              <a:t>best AI for LinkedIn profile</a:t>
            </a:r>
            <a:endParaRPr lang="en-US" sz="950" dirty="0"/>
          </a:p>
          <a:p>
            <a:pPr marL="342900" indent="-342900">
              <a:lnSpc>
                <a:spcPct val="140000"/>
              </a:lnSpc>
              <a:spcAft>
                <a:spcPts val="200"/>
              </a:spcAft>
              <a:buSzPct val="100000"/>
              <a:buChar char="•"/>
            </a:pPr>
            <a:r>
              <a:rPr lang="en-US" sz="950" dirty="0">
                <a:solidFill>
                  <a:srgbClr val="8B949E"/>
                </a:solidFill>
              </a:rPr>
              <a:t>best AI for interview prep</a:t>
            </a:r>
            <a:endParaRPr lang="en-US" sz="950" dirty="0"/>
          </a:p>
        </p:txBody>
      </p:sp>
      <p:sp>
        <p:nvSpPr>
          <p:cNvPr id="14" name="Shape 12"/>
          <p:cNvSpPr/>
          <p:nvPr/>
        </p:nvSpPr>
        <p:spPr>
          <a:xfrm>
            <a:off x="4654296" y="1920240"/>
            <a:ext cx="1965960" cy="2926080"/>
          </a:xfrm>
          <a:prstGeom prst="roundRect">
            <a:avLst>
              <a:gd name="adj" fmla="val 4186"/>
            </a:avLst>
          </a:prstGeom>
          <a:solidFill>
            <a:srgbClr val="1C2128"/>
          </a:solidFill>
          <a:ln w="6350">
            <a:solidFill>
              <a:srgbClr val="30363D"/>
            </a:solidFill>
            <a:prstDash val="solid"/>
          </a:ln>
        </p:spPr>
      </p:sp>
      <p:sp>
        <p:nvSpPr>
          <p:cNvPr id="15" name="Text 13"/>
          <p:cNvSpPr/>
          <p:nvPr/>
        </p:nvSpPr>
        <p:spPr>
          <a:xfrm>
            <a:off x="4764024" y="2011680"/>
            <a:ext cx="1746504" cy="201168"/>
          </a:xfrm>
          <a:prstGeom prst="rect">
            <a:avLst/>
          </a:prstGeom>
          <a:noFill/>
          <a:ln/>
        </p:spPr>
        <p:txBody>
          <a:bodyPr wrap="square" lIns="0" tIns="0" rIns="0" bIns="0" rtlCol="0" anchor="ctr"/>
          <a:lstStyle/>
          <a:p>
            <a:pPr indent="0" marL="0">
              <a:buNone/>
            </a:pPr>
            <a:r>
              <a:rPr lang="en-US" sz="900" b="1" dirty="0">
                <a:solidFill>
                  <a:srgbClr val="D2A8FF"/>
                </a:solidFill>
              </a:rPr>
              <a:t>Month 1</a:t>
            </a:r>
            <a:endParaRPr lang="en-US" sz="900" dirty="0"/>
          </a:p>
        </p:txBody>
      </p:sp>
      <p:sp>
        <p:nvSpPr>
          <p:cNvPr id="16" name="Text 14"/>
          <p:cNvSpPr/>
          <p:nvPr/>
        </p:nvSpPr>
        <p:spPr>
          <a:xfrm>
            <a:off x="4764024" y="2231136"/>
            <a:ext cx="1746504" cy="292608"/>
          </a:xfrm>
          <a:prstGeom prst="rect">
            <a:avLst/>
          </a:prstGeom>
          <a:noFill/>
          <a:ln/>
        </p:spPr>
        <p:txBody>
          <a:bodyPr wrap="square" lIns="0" tIns="0" rIns="0" bIns="0" rtlCol="0" anchor="ctr"/>
          <a:lstStyle/>
          <a:p>
            <a:pPr indent="0" marL="0">
              <a:buNone/>
            </a:pPr>
            <a:r>
              <a:rPr lang="en-US" sz="1400" b="1" dirty="0">
                <a:solidFill>
                  <a:srgbClr val="FFFFFF"/>
                </a:solidFill>
              </a:rPr>
              <a:t>Student</a:t>
            </a:r>
            <a:endParaRPr lang="en-US" sz="1400" dirty="0"/>
          </a:p>
        </p:txBody>
      </p:sp>
      <p:sp>
        <p:nvSpPr>
          <p:cNvPr id="17" name="Shape 15"/>
          <p:cNvSpPr/>
          <p:nvPr/>
        </p:nvSpPr>
        <p:spPr>
          <a:xfrm>
            <a:off x="4764024" y="2578608"/>
            <a:ext cx="1719072" cy="0"/>
          </a:xfrm>
          <a:prstGeom prst="line">
            <a:avLst/>
          </a:prstGeom>
          <a:noFill/>
          <a:ln w="6350">
            <a:solidFill>
              <a:srgbClr val="30363D"/>
            </a:solidFill>
            <a:prstDash val="solid"/>
          </a:ln>
        </p:spPr>
      </p:sp>
      <p:sp>
        <p:nvSpPr>
          <p:cNvPr id="18" name="Text 16"/>
          <p:cNvSpPr/>
          <p:nvPr/>
        </p:nvSpPr>
        <p:spPr>
          <a:xfrm>
            <a:off x="4764024" y="2670048"/>
            <a:ext cx="1746504" cy="2057400"/>
          </a:xfrm>
          <a:prstGeom prst="rect">
            <a:avLst/>
          </a:prstGeom>
          <a:noFill/>
          <a:ln/>
        </p:spPr>
        <p:txBody>
          <a:bodyPr wrap="square" lIns="0" tIns="0" rIns="0" bIns="0" rtlCol="0" anchor="ctr"/>
          <a:lstStyle/>
          <a:p>
            <a:pPr marL="342900" indent="-342900">
              <a:lnSpc>
                <a:spcPct val="140000"/>
              </a:lnSpc>
              <a:spcAft>
                <a:spcPts val="200"/>
              </a:spcAft>
              <a:buSzPct val="100000"/>
              <a:buChar char="•"/>
            </a:pPr>
            <a:r>
              <a:rPr lang="en-US" sz="950" dirty="0">
                <a:solidFill>
                  <a:srgbClr val="8B949E"/>
                </a:solidFill>
              </a:rPr>
              <a:t>best AI essay writer (27k/mo searches)</a:t>
            </a:r>
            <a:endParaRPr lang="en-US" sz="950" dirty="0"/>
          </a:p>
          <a:p>
            <a:pPr marL="342900" indent="-342900">
              <a:lnSpc>
                <a:spcPct val="140000"/>
              </a:lnSpc>
              <a:spcAft>
                <a:spcPts val="200"/>
              </a:spcAft>
              <a:buSzPct val="100000"/>
              <a:buChar char="•"/>
            </a:pPr>
            <a:r>
              <a:rPr lang="en-US" sz="950" dirty="0">
                <a:solidFill>
                  <a:srgbClr val="8B949E"/>
                </a:solidFill>
              </a:rPr>
              <a:t>best AI summarizer</a:t>
            </a:r>
            <a:endParaRPr lang="en-US" sz="950" dirty="0"/>
          </a:p>
          <a:p>
            <a:pPr marL="342900" indent="-342900">
              <a:lnSpc>
                <a:spcPct val="140000"/>
              </a:lnSpc>
              <a:spcAft>
                <a:spcPts val="200"/>
              </a:spcAft>
              <a:buSzPct val="100000"/>
              <a:buChar char="•"/>
            </a:pPr>
            <a:r>
              <a:rPr lang="en-US" sz="950" dirty="0">
                <a:solidFill>
                  <a:srgbClr val="8B949E"/>
                </a:solidFill>
              </a:rPr>
              <a:t>Perplexity vs ChatGPT for research</a:t>
            </a:r>
            <a:endParaRPr lang="en-US" sz="950" dirty="0"/>
          </a:p>
          <a:p>
            <a:pPr marL="342900" indent="-342900">
              <a:lnSpc>
                <a:spcPct val="140000"/>
              </a:lnSpc>
              <a:spcAft>
                <a:spcPts val="200"/>
              </a:spcAft>
              <a:buSzPct val="100000"/>
              <a:buChar char="•"/>
            </a:pPr>
            <a:r>
              <a:rPr lang="en-US" sz="950" dirty="0">
                <a:solidFill>
                  <a:srgbClr val="8B949E"/>
                </a:solidFill>
              </a:rPr>
              <a:t>best AI for studying</a:t>
            </a:r>
            <a:endParaRPr lang="en-US" sz="950" dirty="0"/>
          </a:p>
          <a:p>
            <a:pPr marL="342900" indent="-342900">
              <a:lnSpc>
                <a:spcPct val="140000"/>
              </a:lnSpc>
              <a:spcAft>
                <a:spcPts val="200"/>
              </a:spcAft>
              <a:buSzPct val="100000"/>
              <a:buChar char="•"/>
            </a:pPr>
            <a:r>
              <a:rPr lang="en-US" sz="950" dirty="0">
                <a:solidFill>
                  <a:srgbClr val="8B949E"/>
                </a:solidFill>
              </a:rPr>
              <a:t>best AI citation generator</a:t>
            </a:r>
            <a:endParaRPr lang="en-US" sz="950" dirty="0"/>
          </a:p>
        </p:txBody>
      </p:sp>
      <p:sp>
        <p:nvSpPr>
          <p:cNvPr id="19" name="Shape 17"/>
          <p:cNvSpPr/>
          <p:nvPr/>
        </p:nvSpPr>
        <p:spPr>
          <a:xfrm>
            <a:off x="6775704" y="1920240"/>
            <a:ext cx="1965960" cy="2926080"/>
          </a:xfrm>
          <a:prstGeom prst="roundRect">
            <a:avLst>
              <a:gd name="adj" fmla="val 4186"/>
            </a:avLst>
          </a:prstGeom>
          <a:solidFill>
            <a:srgbClr val="1C2128"/>
          </a:solidFill>
          <a:ln w="6350">
            <a:solidFill>
              <a:srgbClr val="30363D"/>
            </a:solidFill>
            <a:prstDash val="solid"/>
          </a:ln>
        </p:spPr>
      </p:sp>
      <p:sp>
        <p:nvSpPr>
          <p:cNvPr id="20" name="Text 18"/>
          <p:cNvSpPr/>
          <p:nvPr/>
        </p:nvSpPr>
        <p:spPr>
          <a:xfrm>
            <a:off x="6885432" y="2011680"/>
            <a:ext cx="1746504" cy="201168"/>
          </a:xfrm>
          <a:prstGeom prst="rect">
            <a:avLst/>
          </a:prstGeom>
          <a:noFill/>
          <a:ln/>
        </p:spPr>
        <p:txBody>
          <a:bodyPr wrap="square" lIns="0" tIns="0" rIns="0" bIns="0" rtlCol="0" anchor="ctr"/>
          <a:lstStyle/>
          <a:p>
            <a:pPr indent="0" marL="0">
              <a:buNone/>
            </a:pPr>
            <a:r>
              <a:rPr lang="en-US" sz="900" b="1" dirty="0">
                <a:solidFill>
                  <a:srgbClr val="F85149"/>
                </a:solidFill>
              </a:rPr>
              <a:t>Month 2</a:t>
            </a:r>
            <a:endParaRPr lang="en-US" sz="900" dirty="0"/>
          </a:p>
        </p:txBody>
      </p:sp>
      <p:sp>
        <p:nvSpPr>
          <p:cNvPr id="21" name="Text 19"/>
          <p:cNvSpPr/>
          <p:nvPr/>
        </p:nvSpPr>
        <p:spPr>
          <a:xfrm>
            <a:off x="6885432" y="2231136"/>
            <a:ext cx="1746504" cy="292608"/>
          </a:xfrm>
          <a:prstGeom prst="rect">
            <a:avLst/>
          </a:prstGeom>
          <a:noFill/>
          <a:ln/>
        </p:spPr>
        <p:txBody>
          <a:bodyPr wrap="square" lIns="0" tIns="0" rIns="0" bIns="0" rtlCol="0" anchor="ctr"/>
          <a:lstStyle/>
          <a:p>
            <a:pPr indent="0" marL="0">
              <a:buNone/>
            </a:pPr>
            <a:r>
              <a:rPr lang="en-US" sz="1400" b="1" dirty="0">
                <a:solidFill>
                  <a:srgbClr val="FFFFFF"/>
                </a:solidFill>
              </a:rPr>
              <a:t>Social/Creator</a:t>
            </a:r>
            <a:endParaRPr lang="en-US" sz="1400" dirty="0"/>
          </a:p>
        </p:txBody>
      </p:sp>
      <p:sp>
        <p:nvSpPr>
          <p:cNvPr id="22" name="Shape 20"/>
          <p:cNvSpPr/>
          <p:nvPr/>
        </p:nvSpPr>
        <p:spPr>
          <a:xfrm>
            <a:off x="6885432" y="2578608"/>
            <a:ext cx="1719072" cy="0"/>
          </a:xfrm>
          <a:prstGeom prst="line">
            <a:avLst/>
          </a:prstGeom>
          <a:noFill/>
          <a:ln w="6350">
            <a:solidFill>
              <a:srgbClr val="30363D"/>
            </a:solidFill>
            <a:prstDash val="solid"/>
          </a:ln>
        </p:spPr>
      </p:sp>
      <p:sp>
        <p:nvSpPr>
          <p:cNvPr id="23" name="Text 21"/>
          <p:cNvSpPr/>
          <p:nvPr/>
        </p:nvSpPr>
        <p:spPr>
          <a:xfrm>
            <a:off x="6885432" y="2670048"/>
            <a:ext cx="1746504" cy="2057400"/>
          </a:xfrm>
          <a:prstGeom prst="rect">
            <a:avLst/>
          </a:prstGeom>
          <a:noFill/>
          <a:ln/>
        </p:spPr>
        <p:txBody>
          <a:bodyPr wrap="square" lIns="0" tIns="0" rIns="0" bIns="0" rtlCol="0" anchor="ctr"/>
          <a:lstStyle/>
          <a:p>
            <a:pPr marL="342900" indent="-342900">
              <a:lnSpc>
                <a:spcPct val="140000"/>
              </a:lnSpc>
              <a:spcAft>
                <a:spcPts val="200"/>
              </a:spcAft>
              <a:buSzPct val="100000"/>
              <a:buChar char="•"/>
            </a:pPr>
            <a:r>
              <a:rPr lang="en-US" sz="950" dirty="0">
                <a:solidFill>
                  <a:srgbClr val="8B949E"/>
                </a:solidFill>
              </a:rPr>
              <a:t>best AI for Instagram captions</a:t>
            </a:r>
            <a:endParaRPr lang="en-US" sz="950" dirty="0"/>
          </a:p>
          <a:p>
            <a:pPr marL="342900" indent="-342900">
              <a:lnSpc>
                <a:spcPct val="140000"/>
              </a:lnSpc>
              <a:spcAft>
                <a:spcPts val="200"/>
              </a:spcAft>
              <a:buSzPct val="100000"/>
              <a:buChar char="•"/>
            </a:pPr>
            <a:r>
              <a:rPr lang="en-US" sz="950" dirty="0">
                <a:solidFill>
                  <a:srgbClr val="8B949E"/>
                </a:solidFill>
              </a:rPr>
              <a:t>best AI for Reddit posts</a:t>
            </a:r>
            <a:endParaRPr lang="en-US" sz="950" dirty="0"/>
          </a:p>
          <a:p>
            <a:pPr marL="342900" indent="-342900">
              <a:lnSpc>
                <a:spcPct val="140000"/>
              </a:lnSpc>
              <a:spcAft>
                <a:spcPts val="200"/>
              </a:spcAft>
              <a:buSzPct val="100000"/>
              <a:buChar char="•"/>
            </a:pPr>
            <a:r>
              <a:rPr lang="en-US" sz="950" dirty="0">
                <a:solidFill>
                  <a:srgbClr val="8B949E"/>
                </a:solidFill>
              </a:rPr>
              <a:t>best AI for TikTok scripts</a:t>
            </a:r>
            <a:endParaRPr lang="en-US" sz="950" dirty="0"/>
          </a:p>
          <a:p>
            <a:pPr marL="342900" indent="-342900">
              <a:lnSpc>
                <a:spcPct val="140000"/>
              </a:lnSpc>
              <a:spcAft>
                <a:spcPts val="200"/>
              </a:spcAft>
              <a:buSzPct val="100000"/>
              <a:buChar char="•"/>
            </a:pPr>
            <a:r>
              <a:rPr lang="en-US" sz="950" dirty="0">
                <a:solidFill>
                  <a:srgbClr val="8B949E"/>
                </a:solidFill>
              </a:rPr>
              <a:t>which AI writes least cringe LinkedIn post</a:t>
            </a:r>
            <a:endParaRPr lang="en-US" sz="950" dirty="0"/>
          </a:p>
          <a:p>
            <a:pPr marL="342900" indent="-342900">
              <a:lnSpc>
                <a:spcPct val="140000"/>
              </a:lnSpc>
              <a:spcAft>
                <a:spcPts val="200"/>
              </a:spcAft>
              <a:buSzPct val="100000"/>
              <a:buChar char="•"/>
            </a:pPr>
            <a:r>
              <a:rPr lang="en-US" sz="950" dirty="0">
                <a:solidFill>
                  <a:srgbClr val="8B949E"/>
                </a:solidFill>
              </a:rPr>
              <a:t>best AI for YouTube titles</a:t>
            </a:r>
            <a:endParaRPr lang="en-US" sz="950" dirty="0"/>
          </a:p>
        </p:txBody>
      </p:sp>
      <p:sp>
        <p:nvSpPr>
          <p:cNvPr id="24" name="Text 22"/>
          <p:cNvSpPr/>
          <p:nvPr/>
        </p:nvSpPr>
        <p:spPr>
          <a:xfrm>
            <a:off x="594360" y="4864608"/>
            <a:ext cx="8046720" cy="256032"/>
          </a:xfrm>
          <a:prstGeom prst="rect">
            <a:avLst/>
          </a:prstGeom>
          <a:noFill/>
          <a:ln/>
        </p:spPr>
        <p:txBody>
          <a:bodyPr wrap="square" lIns="0" tIns="0" rIns="0" bIns="0" rtlCol="0" anchor="ctr"/>
          <a:lstStyle/>
          <a:p>
            <a:pPr indent="0" marL="0">
              <a:buNone/>
            </a:pPr>
            <a:r>
              <a:rPr lang="en-US" sz="1000" dirty="0">
                <a:solidFill>
                  <a:srgbClr val="6E7681"/>
                </a:solidFill>
              </a:rPr>
              <a:t>Target: 800–1,000 pages at scale. Each page = real prompt + real outputs + live vote count + methodology shown + insight summary. Not thin spam — every page earns its existence.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MODELS + METHODOLOGY</a:t>
            </a:r>
            <a:endParaRPr lang="en-US" sz="1000" dirty="0"/>
          </a:p>
        </p:txBody>
      </p:sp>
      <p:sp>
        <p:nvSpPr>
          <p:cNvPr id="3" name="Text 1"/>
          <p:cNvSpPr/>
          <p:nvPr/>
        </p:nvSpPr>
        <p:spPr>
          <a:xfrm>
            <a:off x="594360" y="658368"/>
            <a:ext cx="7772400" cy="109728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rPr>
              <a:t>Fair fights only.</a:t>
            </a:r>
            <a:endParaRPr lang="en-US" sz="3400" dirty="0"/>
          </a:p>
          <a:p>
            <a:pPr indent="0" marL="0">
              <a:lnSpc>
                <a:spcPct val="120000"/>
              </a:lnSpc>
              <a:buNone/>
            </a:pPr>
            <a:r>
              <a:rPr lang="en-US" sz="3400" b="1" dirty="0">
                <a:solidFill>
                  <a:srgbClr val="FFFFFF"/>
                </a:solidFill>
              </a:rPr>
              <a:t>Transparency is the product.</a:t>
            </a:r>
            <a:endParaRPr lang="en-US" sz="3400" dirty="0"/>
          </a:p>
        </p:txBody>
      </p:sp>
      <p:sp>
        <p:nvSpPr>
          <p:cNvPr id="4" name="Shape 2"/>
          <p:cNvSpPr/>
          <p:nvPr/>
        </p:nvSpPr>
        <p:spPr>
          <a:xfrm>
            <a:off x="457200" y="1874520"/>
            <a:ext cx="1536192" cy="1325880"/>
          </a:xfrm>
          <a:prstGeom prst="roundRect">
            <a:avLst>
              <a:gd name="adj" fmla="val 6207"/>
            </a:avLst>
          </a:prstGeom>
          <a:solidFill>
            <a:srgbClr val="1C2128"/>
          </a:solidFill>
          <a:ln w="6350">
            <a:solidFill>
              <a:srgbClr val="30363D"/>
            </a:solidFill>
            <a:prstDash val="solid"/>
          </a:ln>
        </p:spPr>
      </p:sp>
      <p:sp>
        <p:nvSpPr>
          <p:cNvPr id="5" name="Text 3"/>
          <p:cNvSpPr/>
          <p:nvPr/>
        </p:nvSpPr>
        <p:spPr>
          <a:xfrm>
            <a:off x="457200" y="1965960"/>
            <a:ext cx="1536192" cy="320040"/>
          </a:xfrm>
          <a:prstGeom prst="rect">
            <a:avLst/>
          </a:prstGeom>
          <a:noFill/>
          <a:ln/>
        </p:spPr>
        <p:txBody>
          <a:bodyPr wrap="square" lIns="0" tIns="0" rIns="0" bIns="0" rtlCol="0" anchor="ctr"/>
          <a:lstStyle/>
          <a:p>
            <a:pPr algn="ctr" indent="0" marL="0">
              <a:buNone/>
            </a:pPr>
            <a:r>
              <a:rPr lang="en-US" sz="1400" b="1" dirty="0">
                <a:solidFill>
                  <a:srgbClr val="C3F73A"/>
                </a:solidFill>
              </a:rPr>
              <a:t>Claude</a:t>
            </a:r>
            <a:endParaRPr lang="en-US" sz="1400" dirty="0"/>
          </a:p>
        </p:txBody>
      </p:sp>
      <p:sp>
        <p:nvSpPr>
          <p:cNvPr id="6" name="Text 4"/>
          <p:cNvSpPr/>
          <p:nvPr/>
        </p:nvSpPr>
        <p:spPr>
          <a:xfrm>
            <a:off x="457200" y="2304288"/>
            <a:ext cx="1536192" cy="228600"/>
          </a:xfrm>
          <a:prstGeom prst="rect">
            <a:avLst/>
          </a:prstGeom>
          <a:noFill/>
          <a:ln/>
        </p:spPr>
        <p:txBody>
          <a:bodyPr wrap="square" lIns="0" tIns="0" rIns="0" bIns="0" rtlCol="0" anchor="ctr"/>
          <a:lstStyle/>
          <a:p>
            <a:pPr algn="ctr" indent="0" marL="0">
              <a:buNone/>
            </a:pPr>
            <a:r>
              <a:rPr lang="en-US" sz="1000" dirty="0">
                <a:solidFill>
                  <a:srgbClr val="FFFFFF"/>
                </a:solidFill>
              </a:rPr>
              <a:t>Sonnet (current)</a:t>
            </a:r>
            <a:endParaRPr lang="en-US" sz="1000" dirty="0"/>
          </a:p>
        </p:txBody>
      </p:sp>
      <p:sp>
        <p:nvSpPr>
          <p:cNvPr id="7" name="Text 5"/>
          <p:cNvSpPr/>
          <p:nvPr/>
        </p:nvSpPr>
        <p:spPr>
          <a:xfrm>
            <a:off x="457200" y="2542032"/>
            <a:ext cx="1536192" cy="228600"/>
          </a:xfrm>
          <a:prstGeom prst="rect">
            <a:avLst/>
          </a:prstGeom>
          <a:noFill/>
          <a:ln/>
        </p:spPr>
        <p:txBody>
          <a:bodyPr wrap="square" lIns="0" tIns="0" rIns="0" bIns="0" rtlCol="0" anchor="ctr"/>
          <a:lstStyle/>
          <a:p>
            <a:pPr algn="ctr" indent="0" marL="0">
              <a:buNone/>
            </a:pPr>
            <a:r>
              <a:rPr lang="en-US" sz="900" dirty="0">
                <a:solidFill>
                  <a:srgbClr val="8B949E"/>
                </a:solidFill>
              </a:rPr>
              <a:t>Anthropic flagship</a:t>
            </a:r>
            <a:endParaRPr lang="en-US" sz="900" dirty="0"/>
          </a:p>
        </p:txBody>
      </p:sp>
      <p:sp>
        <p:nvSpPr>
          <p:cNvPr id="8" name="Shape 6"/>
          <p:cNvSpPr/>
          <p:nvPr/>
        </p:nvSpPr>
        <p:spPr>
          <a:xfrm>
            <a:off x="2139696" y="1874520"/>
            <a:ext cx="1536192" cy="1325880"/>
          </a:xfrm>
          <a:prstGeom prst="roundRect">
            <a:avLst>
              <a:gd name="adj" fmla="val 6207"/>
            </a:avLst>
          </a:prstGeom>
          <a:solidFill>
            <a:srgbClr val="1C2128"/>
          </a:solidFill>
          <a:ln w="6350">
            <a:solidFill>
              <a:srgbClr val="30363D"/>
            </a:solidFill>
            <a:prstDash val="solid"/>
          </a:ln>
        </p:spPr>
      </p:sp>
      <p:sp>
        <p:nvSpPr>
          <p:cNvPr id="9" name="Text 7"/>
          <p:cNvSpPr/>
          <p:nvPr/>
        </p:nvSpPr>
        <p:spPr>
          <a:xfrm>
            <a:off x="2139696" y="1965960"/>
            <a:ext cx="1536192" cy="320040"/>
          </a:xfrm>
          <a:prstGeom prst="rect">
            <a:avLst/>
          </a:prstGeom>
          <a:noFill/>
          <a:ln/>
        </p:spPr>
        <p:txBody>
          <a:bodyPr wrap="square" lIns="0" tIns="0" rIns="0" bIns="0" rtlCol="0" anchor="ctr"/>
          <a:lstStyle/>
          <a:p>
            <a:pPr algn="ctr" indent="0" marL="0">
              <a:buNone/>
            </a:pPr>
            <a:r>
              <a:rPr lang="en-US" sz="1400" b="1" dirty="0">
                <a:solidFill>
                  <a:srgbClr val="C3F73A"/>
                </a:solidFill>
              </a:rPr>
              <a:t>ChatGPT</a:t>
            </a:r>
            <a:endParaRPr lang="en-US" sz="1400" dirty="0"/>
          </a:p>
        </p:txBody>
      </p:sp>
      <p:sp>
        <p:nvSpPr>
          <p:cNvPr id="10" name="Text 8"/>
          <p:cNvSpPr/>
          <p:nvPr/>
        </p:nvSpPr>
        <p:spPr>
          <a:xfrm>
            <a:off x="2139696" y="2304288"/>
            <a:ext cx="1536192" cy="228600"/>
          </a:xfrm>
          <a:prstGeom prst="rect">
            <a:avLst/>
          </a:prstGeom>
          <a:noFill/>
          <a:ln/>
        </p:spPr>
        <p:txBody>
          <a:bodyPr wrap="square" lIns="0" tIns="0" rIns="0" bIns="0" rtlCol="0" anchor="ctr"/>
          <a:lstStyle/>
          <a:p>
            <a:pPr algn="ctr" indent="0" marL="0">
              <a:buNone/>
            </a:pPr>
            <a:r>
              <a:rPr lang="en-US" sz="1000" dirty="0">
                <a:solidFill>
                  <a:srgbClr val="FFFFFF"/>
                </a:solidFill>
              </a:rPr>
              <a:t>GPT-5 default</a:t>
            </a:r>
            <a:endParaRPr lang="en-US" sz="1000" dirty="0"/>
          </a:p>
        </p:txBody>
      </p:sp>
      <p:sp>
        <p:nvSpPr>
          <p:cNvPr id="11" name="Text 9"/>
          <p:cNvSpPr/>
          <p:nvPr/>
        </p:nvSpPr>
        <p:spPr>
          <a:xfrm>
            <a:off x="2139696" y="2542032"/>
            <a:ext cx="1536192" cy="228600"/>
          </a:xfrm>
          <a:prstGeom prst="rect">
            <a:avLst/>
          </a:prstGeom>
          <a:noFill/>
          <a:ln/>
        </p:spPr>
        <p:txBody>
          <a:bodyPr wrap="square" lIns="0" tIns="0" rIns="0" bIns="0" rtlCol="0" anchor="ctr"/>
          <a:lstStyle/>
          <a:p>
            <a:pPr algn="ctr" indent="0" marL="0">
              <a:buNone/>
            </a:pPr>
            <a:r>
              <a:rPr lang="en-US" sz="900" dirty="0">
                <a:solidFill>
                  <a:srgbClr val="8B949E"/>
                </a:solidFill>
              </a:rPr>
              <a:t>OpenAI flagship</a:t>
            </a:r>
            <a:endParaRPr lang="en-US" sz="900" dirty="0"/>
          </a:p>
        </p:txBody>
      </p:sp>
      <p:sp>
        <p:nvSpPr>
          <p:cNvPr id="12" name="Shape 10"/>
          <p:cNvSpPr/>
          <p:nvPr/>
        </p:nvSpPr>
        <p:spPr>
          <a:xfrm>
            <a:off x="3822192" y="1874520"/>
            <a:ext cx="1536192" cy="1325880"/>
          </a:xfrm>
          <a:prstGeom prst="roundRect">
            <a:avLst>
              <a:gd name="adj" fmla="val 6207"/>
            </a:avLst>
          </a:prstGeom>
          <a:solidFill>
            <a:srgbClr val="1C2128"/>
          </a:solidFill>
          <a:ln w="6350">
            <a:solidFill>
              <a:srgbClr val="30363D"/>
            </a:solidFill>
            <a:prstDash val="solid"/>
          </a:ln>
        </p:spPr>
      </p:sp>
      <p:sp>
        <p:nvSpPr>
          <p:cNvPr id="13" name="Text 11"/>
          <p:cNvSpPr/>
          <p:nvPr/>
        </p:nvSpPr>
        <p:spPr>
          <a:xfrm>
            <a:off x="3822192" y="1965960"/>
            <a:ext cx="1536192" cy="320040"/>
          </a:xfrm>
          <a:prstGeom prst="rect">
            <a:avLst/>
          </a:prstGeom>
          <a:noFill/>
          <a:ln/>
        </p:spPr>
        <p:txBody>
          <a:bodyPr wrap="square" lIns="0" tIns="0" rIns="0" bIns="0" rtlCol="0" anchor="ctr"/>
          <a:lstStyle/>
          <a:p>
            <a:pPr algn="ctr" indent="0" marL="0">
              <a:buNone/>
            </a:pPr>
            <a:r>
              <a:rPr lang="en-US" sz="1400" b="1" dirty="0">
                <a:solidFill>
                  <a:srgbClr val="C3F73A"/>
                </a:solidFill>
              </a:rPr>
              <a:t>Gemini</a:t>
            </a:r>
            <a:endParaRPr lang="en-US" sz="1400" dirty="0"/>
          </a:p>
        </p:txBody>
      </p:sp>
      <p:sp>
        <p:nvSpPr>
          <p:cNvPr id="14" name="Text 12"/>
          <p:cNvSpPr/>
          <p:nvPr/>
        </p:nvSpPr>
        <p:spPr>
          <a:xfrm>
            <a:off x="3822192" y="2304288"/>
            <a:ext cx="1536192" cy="228600"/>
          </a:xfrm>
          <a:prstGeom prst="rect">
            <a:avLst/>
          </a:prstGeom>
          <a:noFill/>
          <a:ln/>
        </p:spPr>
        <p:txBody>
          <a:bodyPr wrap="square" lIns="0" tIns="0" rIns="0" bIns="0" rtlCol="0" anchor="ctr"/>
          <a:lstStyle/>
          <a:p>
            <a:pPr algn="ctr" indent="0" marL="0">
              <a:buNone/>
            </a:pPr>
            <a:r>
              <a:rPr lang="en-US" sz="1000" dirty="0">
                <a:solidFill>
                  <a:srgbClr val="FFFFFF"/>
                </a:solidFill>
              </a:rPr>
              <a:t>Pro (current)</a:t>
            </a:r>
            <a:endParaRPr lang="en-US" sz="1000" dirty="0"/>
          </a:p>
        </p:txBody>
      </p:sp>
      <p:sp>
        <p:nvSpPr>
          <p:cNvPr id="15" name="Text 13"/>
          <p:cNvSpPr/>
          <p:nvPr/>
        </p:nvSpPr>
        <p:spPr>
          <a:xfrm>
            <a:off x="3822192" y="2542032"/>
            <a:ext cx="1536192" cy="228600"/>
          </a:xfrm>
          <a:prstGeom prst="rect">
            <a:avLst/>
          </a:prstGeom>
          <a:noFill/>
          <a:ln/>
        </p:spPr>
        <p:txBody>
          <a:bodyPr wrap="square" lIns="0" tIns="0" rIns="0" bIns="0" rtlCol="0" anchor="ctr"/>
          <a:lstStyle/>
          <a:p>
            <a:pPr algn="ctr" indent="0" marL="0">
              <a:buNone/>
            </a:pPr>
            <a:r>
              <a:rPr lang="en-US" sz="900" dirty="0">
                <a:solidFill>
                  <a:srgbClr val="8B949E"/>
                </a:solidFill>
              </a:rPr>
              <a:t>Google flagship</a:t>
            </a:r>
            <a:endParaRPr lang="en-US" sz="900" dirty="0"/>
          </a:p>
        </p:txBody>
      </p:sp>
      <p:sp>
        <p:nvSpPr>
          <p:cNvPr id="16" name="Shape 14"/>
          <p:cNvSpPr/>
          <p:nvPr/>
        </p:nvSpPr>
        <p:spPr>
          <a:xfrm>
            <a:off x="5504688" y="1874520"/>
            <a:ext cx="1536192" cy="1325880"/>
          </a:xfrm>
          <a:prstGeom prst="roundRect">
            <a:avLst>
              <a:gd name="adj" fmla="val 6207"/>
            </a:avLst>
          </a:prstGeom>
          <a:solidFill>
            <a:srgbClr val="1C2128"/>
          </a:solidFill>
          <a:ln w="6350">
            <a:solidFill>
              <a:srgbClr val="30363D"/>
            </a:solidFill>
            <a:prstDash val="solid"/>
          </a:ln>
        </p:spPr>
      </p:sp>
      <p:sp>
        <p:nvSpPr>
          <p:cNvPr id="17" name="Text 15"/>
          <p:cNvSpPr/>
          <p:nvPr/>
        </p:nvSpPr>
        <p:spPr>
          <a:xfrm>
            <a:off x="5504688" y="1965960"/>
            <a:ext cx="1536192" cy="320040"/>
          </a:xfrm>
          <a:prstGeom prst="rect">
            <a:avLst/>
          </a:prstGeom>
          <a:noFill/>
          <a:ln/>
        </p:spPr>
        <p:txBody>
          <a:bodyPr wrap="square" lIns="0" tIns="0" rIns="0" bIns="0" rtlCol="0" anchor="ctr"/>
          <a:lstStyle/>
          <a:p>
            <a:pPr algn="ctr" indent="0" marL="0">
              <a:buNone/>
            </a:pPr>
            <a:r>
              <a:rPr lang="en-US" sz="1400" b="1" dirty="0">
                <a:solidFill>
                  <a:srgbClr val="C3F73A"/>
                </a:solidFill>
              </a:rPr>
              <a:t>Grok</a:t>
            </a:r>
            <a:endParaRPr lang="en-US" sz="1400" dirty="0"/>
          </a:p>
        </p:txBody>
      </p:sp>
      <p:sp>
        <p:nvSpPr>
          <p:cNvPr id="18" name="Text 16"/>
          <p:cNvSpPr/>
          <p:nvPr/>
        </p:nvSpPr>
        <p:spPr>
          <a:xfrm>
            <a:off x="5504688" y="2304288"/>
            <a:ext cx="1536192" cy="228600"/>
          </a:xfrm>
          <a:prstGeom prst="rect">
            <a:avLst/>
          </a:prstGeom>
          <a:noFill/>
          <a:ln/>
        </p:spPr>
        <p:txBody>
          <a:bodyPr wrap="square" lIns="0" tIns="0" rIns="0" bIns="0" rtlCol="0" anchor="ctr"/>
          <a:lstStyle/>
          <a:p>
            <a:pPr algn="ctr" indent="0" marL="0">
              <a:buNone/>
            </a:pPr>
            <a:r>
              <a:rPr lang="en-US" sz="1000" dirty="0">
                <a:solidFill>
                  <a:srgbClr val="FFFFFF"/>
                </a:solidFill>
              </a:rPr>
              <a:t>Latest public</a:t>
            </a:r>
            <a:endParaRPr lang="en-US" sz="1000" dirty="0"/>
          </a:p>
        </p:txBody>
      </p:sp>
      <p:sp>
        <p:nvSpPr>
          <p:cNvPr id="19" name="Text 17"/>
          <p:cNvSpPr/>
          <p:nvPr/>
        </p:nvSpPr>
        <p:spPr>
          <a:xfrm>
            <a:off x="5504688" y="2542032"/>
            <a:ext cx="1536192" cy="228600"/>
          </a:xfrm>
          <a:prstGeom prst="rect">
            <a:avLst/>
          </a:prstGeom>
          <a:noFill/>
          <a:ln/>
        </p:spPr>
        <p:txBody>
          <a:bodyPr wrap="square" lIns="0" tIns="0" rIns="0" bIns="0" rtlCol="0" anchor="ctr"/>
          <a:lstStyle/>
          <a:p>
            <a:pPr algn="ctr" indent="0" marL="0">
              <a:buNone/>
            </a:pPr>
            <a:r>
              <a:rPr lang="en-US" sz="900" dirty="0">
                <a:solidFill>
                  <a:srgbClr val="8B949E"/>
                </a:solidFill>
              </a:rPr>
              <a:t>xAI flagship</a:t>
            </a:r>
            <a:endParaRPr lang="en-US" sz="900" dirty="0"/>
          </a:p>
        </p:txBody>
      </p:sp>
      <p:sp>
        <p:nvSpPr>
          <p:cNvPr id="20" name="Shape 18"/>
          <p:cNvSpPr/>
          <p:nvPr/>
        </p:nvSpPr>
        <p:spPr>
          <a:xfrm>
            <a:off x="7187184" y="1874520"/>
            <a:ext cx="1536192" cy="1325880"/>
          </a:xfrm>
          <a:prstGeom prst="roundRect">
            <a:avLst>
              <a:gd name="adj" fmla="val 6207"/>
            </a:avLst>
          </a:prstGeom>
          <a:solidFill>
            <a:srgbClr val="1C2128"/>
          </a:solidFill>
          <a:ln w="6350">
            <a:solidFill>
              <a:srgbClr val="30363D"/>
            </a:solidFill>
            <a:prstDash val="solid"/>
          </a:ln>
        </p:spPr>
      </p:sp>
      <p:sp>
        <p:nvSpPr>
          <p:cNvPr id="21" name="Text 19"/>
          <p:cNvSpPr/>
          <p:nvPr/>
        </p:nvSpPr>
        <p:spPr>
          <a:xfrm>
            <a:off x="7187184" y="1965960"/>
            <a:ext cx="1536192" cy="320040"/>
          </a:xfrm>
          <a:prstGeom prst="rect">
            <a:avLst/>
          </a:prstGeom>
          <a:noFill/>
          <a:ln/>
        </p:spPr>
        <p:txBody>
          <a:bodyPr wrap="square" lIns="0" tIns="0" rIns="0" bIns="0" rtlCol="0" anchor="ctr"/>
          <a:lstStyle/>
          <a:p>
            <a:pPr algn="ctr" indent="0" marL="0">
              <a:buNone/>
            </a:pPr>
            <a:r>
              <a:rPr lang="en-US" sz="1400" b="1" dirty="0">
                <a:solidFill>
                  <a:srgbClr val="C3F73A"/>
                </a:solidFill>
              </a:rPr>
              <a:t>Perplexity</a:t>
            </a:r>
            <a:endParaRPr lang="en-US" sz="1400" dirty="0"/>
          </a:p>
        </p:txBody>
      </p:sp>
      <p:sp>
        <p:nvSpPr>
          <p:cNvPr id="22" name="Text 20"/>
          <p:cNvSpPr/>
          <p:nvPr/>
        </p:nvSpPr>
        <p:spPr>
          <a:xfrm>
            <a:off x="7187184" y="2304288"/>
            <a:ext cx="1536192" cy="228600"/>
          </a:xfrm>
          <a:prstGeom prst="rect">
            <a:avLst/>
          </a:prstGeom>
          <a:noFill/>
          <a:ln/>
        </p:spPr>
        <p:txBody>
          <a:bodyPr wrap="square" lIns="0" tIns="0" rIns="0" bIns="0" rtlCol="0" anchor="ctr"/>
          <a:lstStyle/>
          <a:p>
            <a:pPr algn="ctr" indent="0" marL="0">
              <a:buNone/>
            </a:pPr>
            <a:r>
              <a:rPr lang="en-US" sz="1000" dirty="0">
                <a:solidFill>
                  <a:srgbClr val="FFFFFF"/>
                </a:solidFill>
              </a:rPr>
              <a:t>Default model</a:t>
            </a:r>
            <a:endParaRPr lang="en-US" sz="1000" dirty="0"/>
          </a:p>
        </p:txBody>
      </p:sp>
      <p:sp>
        <p:nvSpPr>
          <p:cNvPr id="23" name="Text 21"/>
          <p:cNvSpPr/>
          <p:nvPr/>
        </p:nvSpPr>
        <p:spPr>
          <a:xfrm>
            <a:off x="7187184" y="2542032"/>
            <a:ext cx="1536192" cy="228600"/>
          </a:xfrm>
          <a:prstGeom prst="rect">
            <a:avLst/>
          </a:prstGeom>
          <a:noFill/>
          <a:ln/>
        </p:spPr>
        <p:txBody>
          <a:bodyPr wrap="square" lIns="0" tIns="0" rIns="0" bIns="0" rtlCol="0" anchor="ctr"/>
          <a:lstStyle/>
          <a:p>
            <a:pPr algn="ctr" indent="0" marL="0">
              <a:buNone/>
            </a:pPr>
            <a:r>
              <a:rPr lang="en-US" sz="900" dirty="0">
                <a:solidFill>
                  <a:srgbClr val="8B949E"/>
                </a:solidFill>
              </a:rPr>
              <a:t>Best for research</a:t>
            </a:r>
            <a:endParaRPr lang="en-US" sz="900" dirty="0"/>
          </a:p>
        </p:txBody>
      </p:sp>
      <p:sp>
        <p:nvSpPr>
          <p:cNvPr id="24" name="Text 22"/>
          <p:cNvSpPr/>
          <p:nvPr/>
        </p:nvSpPr>
        <p:spPr>
          <a:xfrm>
            <a:off x="594360" y="3310128"/>
            <a:ext cx="8046720" cy="347472"/>
          </a:xfrm>
          <a:prstGeom prst="rect">
            <a:avLst/>
          </a:prstGeom>
          <a:noFill/>
          <a:ln/>
        </p:spPr>
        <p:txBody>
          <a:bodyPr wrap="square" lIns="0" tIns="0" rIns="0" bIns="0" rtlCol="0" anchor="ctr"/>
          <a:lstStyle/>
          <a:p>
            <a:pPr indent="0" marL="0">
              <a:lnSpc>
                <a:spcPct val="140000"/>
              </a:lnSpc>
              <a:buNone/>
            </a:pPr>
            <a:r>
              <a:rPr lang="en-US" sz="1100" dirty="0">
                <a:solidFill>
                  <a:srgbClr val="8B949E"/>
                </a:solidFill>
              </a:rPr>
              <a:t>Policy: always use the current default model available to a standard user. When a major model updates, that's a content event — 'GPT-6 just entered the battles, here's week one.'</a:t>
            </a:r>
            <a:endParaRPr lang="en-US" sz="1100" dirty="0"/>
          </a:p>
        </p:txBody>
      </p:sp>
      <p:sp>
        <p:nvSpPr>
          <p:cNvPr id="25" name="Shape 23"/>
          <p:cNvSpPr/>
          <p:nvPr/>
        </p:nvSpPr>
        <p:spPr>
          <a:xfrm>
            <a:off x="502920" y="3749040"/>
            <a:ext cx="8321040" cy="1188720"/>
          </a:xfrm>
          <a:prstGeom prst="roundRect">
            <a:avLst>
              <a:gd name="adj" fmla="val 6923"/>
            </a:avLst>
          </a:prstGeom>
          <a:solidFill>
            <a:srgbClr val="1C2128"/>
          </a:solidFill>
          <a:ln w="6350">
            <a:solidFill>
              <a:srgbClr val="30363D"/>
            </a:solidFill>
            <a:prstDash val="solid"/>
          </a:ln>
        </p:spPr>
      </p:sp>
      <p:sp>
        <p:nvSpPr>
          <p:cNvPr id="26" name="Text 24"/>
          <p:cNvSpPr/>
          <p:nvPr/>
        </p:nvSpPr>
        <p:spPr>
          <a:xfrm>
            <a:off x="685800" y="3822192"/>
            <a:ext cx="7772400" cy="228600"/>
          </a:xfrm>
          <a:prstGeom prst="rect">
            <a:avLst/>
          </a:prstGeom>
          <a:noFill/>
          <a:ln/>
        </p:spPr>
        <p:txBody>
          <a:bodyPr wrap="square" lIns="0" tIns="0" rIns="0" bIns="0" rtlCol="0" anchor="ctr"/>
          <a:lstStyle/>
          <a:p>
            <a:pPr indent="0" marL="0">
              <a:buNone/>
            </a:pPr>
            <a:r>
              <a:rPr lang="en-US" sz="1000" b="1" dirty="0">
                <a:solidFill>
                  <a:srgbClr val="C3F73A"/>
                </a:solidFill>
              </a:rPr>
              <a:t>METHODOLOGY — shown on every battle card</a:t>
            </a:r>
            <a:endParaRPr lang="en-US" sz="1000" dirty="0"/>
          </a:p>
        </p:txBody>
      </p:sp>
      <p:sp>
        <p:nvSpPr>
          <p:cNvPr id="27" name="Text 25"/>
          <p:cNvSpPr/>
          <p:nvPr/>
        </p:nvSpPr>
        <p:spPr>
          <a:xfrm>
            <a:off x="685800" y="4096512"/>
            <a:ext cx="7863840" cy="685800"/>
          </a:xfrm>
          <a:prstGeom prst="rect">
            <a:avLst/>
          </a:prstGeom>
          <a:noFill/>
          <a:ln/>
        </p:spPr>
        <p:txBody>
          <a:bodyPr wrap="square" lIns="0" tIns="0" rIns="0" bIns="0" rtlCol="0" anchor="ctr"/>
          <a:lstStyle/>
          <a:p>
            <a:pPr indent="0" marL="0">
              <a:lnSpc>
                <a:spcPct val="150000"/>
              </a:lnSpc>
              <a:buNone/>
            </a:pPr>
            <a:r>
              <a:rPr lang="en-US" sz="1000" dirty="0">
                <a:solidFill>
                  <a:srgbClr val="8B949E"/>
                </a:solidFill>
              </a:rPr>
              <a:t>✓ Same prompt, word for word     ✓ Same temperature (0.7)     ✓ Same max length (200 words)     ✓ Position randomised per visitor     ✓ Pre-run + cached (cost = per battle, not per visitor)     ✓ Via OpenRouter — one API, all models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MONETISATION</a:t>
            </a:r>
            <a:endParaRPr lang="en-US" sz="1000" dirty="0"/>
          </a:p>
        </p:txBody>
      </p:sp>
      <p:sp>
        <p:nvSpPr>
          <p:cNvPr id="3" name="Text 1"/>
          <p:cNvSpPr/>
          <p:nvPr/>
        </p:nvSpPr>
        <p:spPr>
          <a:xfrm>
            <a:off x="594360" y="658368"/>
            <a:ext cx="7772400" cy="109728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rPr>
              <a:t>Traffic first. Revenue follows.</a:t>
            </a:r>
            <a:endParaRPr lang="en-US" sz="3400" dirty="0"/>
          </a:p>
          <a:p>
            <a:pPr indent="0" marL="0">
              <a:lnSpc>
                <a:spcPct val="120000"/>
              </a:lnSpc>
              <a:buNone/>
            </a:pPr>
            <a:r>
              <a:rPr lang="en-US" sz="3400" b="1" dirty="0">
                <a:solidFill>
                  <a:srgbClr val="FFFFFF"/>
                </a:solidFill>
              </a:rPr>
              <a:t>No ads. Ever.</a:t>
            </a:r>
            <a:endParaRPr lang="en-US" sz="3400" dirty="0"/>
          </a:p>
        </p:txBody>
      </p:sp>
      <p:sp>
        <p:nvSpPr>
          <p:cNvPr id="4" name="Shape 2"/>
          <p:cNvSpPr/>
          <p:nvPr/>
        </p:nvSpPr>
        <p:spPr>
          <a:xfrm>
            <a:off x="411480" y="1920240"/>
            <a:ext cx="2651760" cy="1389888"/>
          </a:xfrm>
          <a:prstGeom prst="roundRect">
            <a:avLst>
              <a:gd name="adj" fmla="val 5921"/>
            </a:avLst>
          </a:prstGeom>
          <a:solidFill>
            <a:srgbClr val="1C2128"/>
          </a:solidFill>
          <a:ln w="6350">
            <a:solidFill>
              <a:srgbClr val="30363D"/>
            </a:solidFill>
            <a:prstDash val="solid"/>
          </a:ln>
        </p:spPr>
      </p:sp>
      <p:sp>
        <p:nvSpPr>
          <p:cNvPr id="5" name="Text 3"/>
          <p:cNvSpPr/>
          <p:nvPr/>
        </p:nvSpPr>
        <p:spPr>
          <a:xfrm>
            <a:off x="548640" y="2029968"/>
            <a:ext cx="2377440" cy="201168"/>
          </a:xfrm>
          <a:prstGeom prst="rect">
            <a:avLst/>
          </a:prstGeom>
          <a:noFill/>
          <a:ln/>
        </p:spPr>
        <p:txBody>
          <a:bodyPr wrap="square" lIns="0" tIns="0" rIns="0" bIns="0" rtlCol="0" anchor="ctr"/>
          <a:lstStyle/>
          <a:p>
            <a:pPr indent="0" marL="0">
              <a:buNone/>
            </a:pPr>
            <a:r>
              <a:rPr lang="en-US" sz="900" b="1" dirty="0">
                <a:solidFill>
                  <a:srgbClr val="C3F73A"/>
                </a:solidFill>
              </a:rPr>
              <a:t>Now</a:t>
            </a:r>
            <a:endParaRPr lang="en-US" sz="900" dirty="0"/>
          </a:p>
        </p:txBody>
      </p:sp>
      <p:sp>
        <p:nvSpPr>
          <p:cNvPr id="6" name="Text 4"/>
          <p:cNvSpPr/>
          <p:nvPr/>
        </p:nvSpPr>
        <p:spPr>
          <a:xfrm>
            <a:off x="548640" y="2240280"/>
            <a:ext cx="2377440" cy="274320"/>
          </a:xfrm>
          <a:prstGeom prst="rect">
            <a:avLst/>
          </a:prstGeom>
          <a:noFill/>
          <a:ln/>
        </p:spPr>
        <p:txBody>
          <a:bodyPr wrap="square" lIns="0" tIns="0" rIns="0" bIns="0" rtlCol="0" anchor="ctr"/>
          <a:lstStyle/>
          <a:p>
            <a:pPr indent="0" marL="0">
              <a:buNone/>
            </a:pPr>
            <a:r>
              <a:rPr lang="en-US" sz="1300" b="1" dirty="0">
                <a:solidFill>
                  <a:srgbClr val="FFFFFF"/>
                </a:solidFill>
              </a:rPr>
              <a:t>Affiliate links</a:t>
            </a:r>
            <a:endParaRPr lang="en-US" sz="1300" dirty="0"/>
          </a:p>
        </p:txBody>
      </p:sp>
      <p:sp>
        <p:nvSpPr>
          <p:cNvPr id="7" name="Text 5"/>
          <p:cNvSpPr/>
          <p:nvPr/>
        </p:nvSpPr>
        <p:spPr>
          <a:xfrm>
            <a:off x="548640" y="2523744"/>
            <a:ext cx="2395728" cy="667512"/>
          </a:xfrm>
          <a:prstGeom prst="rect">
            <a:avLst/>
          </a:prstGeom>
          <a:noFill/>
          <a:ln/>
        </p:spPr>
        <p:txBody>
          <a:bodyPr wrap="square" lIns="0" tIns="0" rIns="0" bIns="0" rtlCol="0" anchor="ctr"/>
          <a:lstStyle/>
          <a:p>
            <a:pPr indent="0" marL="0">
              <a:lnSpc>
                <a:spcPct val="135000"/>
              </a:lnSpc>
              <a:buNone/>
            </a:pPr>
            <a:r>
              <a:rPr lang="en-US" sz="950" dirty="0">
                <a:solidFill>
                  <a:srgbClr val="8B949E"/>
                </a:solidFill>
              </a:rPr>
              <a:t>Claude, ChatGPT Plus, Perplexity, Cursor — all have referral programs. Every battle result links to the winning tool. 2–3 signups/month covers the full API bill.</a:t>
            </a:r>
            <a:endParaRPr lang="en-US" sz="950" dirty="0"/>
          </a:p>
        </p:txBody>
      </p:sp>
      <p:sp>
        <p:nvSpPr>
          <p:cNvPr id="8" name="Shape 6"/>
          <p:cNvSpPr/>
          <p:nvPr/>
        </p:nvSpPr>
        <p:spPr>
          <a:xfrm>
            <a:off x="3246120" y="1920240"/>
            <a:ext cx="2651760" cy="1389888"/>
          </a:xfrm>
          <a:prstGeom prst="roundRect">
            <a:avLst>
              <a:gd name="adj" fmla="val 5921"/>
            </a:avLst>
          </a:prstGeom>
          <a:solidFill>
            <a:srgbClr val="1C2128"/>
          </a:solidFill>
          <a:ln w="6350">
            <a:solidFill>
              <a:srgbClr val="30363D"/>
            </a:solidFill>
            <a:prstDash val="solid"/>
          </a:ln>
        </p:spPr>
      </p:sp>
      <p:sp>
        <p:nvSpPr>
          <p:cNvPr id="9" name="Text 7"/>
          <p:cNvSpPr/>
          <p:nvPr/>
        </p:nvSpPr>
        <p:spPr>
          <a:xfrm>
            <a:off x="3383280" y="2029968"/>
            <a:ext cx="2377440" cy="201168"/>
          </a:xfrm>
          <a:prstGeom prst="rect">
            <a:avLst/>
          </a:prstGeom>
          <a:noFill/>
          <a:ln/>
        </p:spPr>
        <p:txBody>
          <a:bodyPr wrap="square" lIns="0" tIns="0" rIns="0" bIns="0" rtlCol="0" anchor="ctr"/>
          <a:lstStyle/>
          <a:p>
            <a:pPr indent="0" marL="0">
              <a:buNone/>
            </a:pPr>
            <a:r>
              <a:rPr lang="en-US" sz="900" b="1" dirty="0">
                <a:solidFill>
                  <a:srgbClr val="58A6FF"/>
                </a:solidFill>
              </a:rPr>
              <a:t>Month 3+</a:t>
            </a:r>
            <a:endParaRPr lang="en-US" sz="900" dirty="0"/>
          </a:p>
        </p:txBody>
      </p:sp>
      <p:sp>
        <p:nvSpPr>
          <p:cNvPr id="10" name="Text 8"/>
          <p:cNvSpPr/>
          <p:nvPr/>
        </p:nvSpPr>
        <p:spPr>
          <a:xfrm>
            <a:off x="3383280" y="2240280"/>
            <a:ext cx="2377440" cy="274320"/>
          </a:xfrm>
          <a:prstGeom prst="rect">
            <a:avLst/>
          </a:prstGeom>
          <a:noFill/>
          <a:ln/>
        </p:spPr>
        <p:txBody>
          <a:bodyPr wrap="square" lIns="0" tIns="0" rIns="0" bIns="0" rtlCol="0" anchor="ctr"/>
          <a:lstStyle/>
          <a:p>
            <a:pPr indent="0" marL="0">
              <a:buNone/>
            </a:pPr>
            <a:r>
              <a:rPr lang="en-US" sz="1300" b="1" dirty="0">
                <a:solidFill>
                  <a:srgbClr val="FFFFFF"/>
                </a:solidFill>
              </a:rPr>
              <a:t>Sponsored battles</a:t>
            </a:r>
            <a:endParaRPr lang="en-US" sz="1300" dirty="0"/>
          </a:p>
        </p:txBody>
      </p:sp>
      <p:sp>
        <p:nvSpPr>
          <p:cNvPr id="11" name="Text 9"/>
          <p:cNvSpPr/>
          <p:nvPr/>
        </p:nvSpPr>
        <p:spPr>
          <a:xfrm>
            <a:off x="3383280" y="2523744"/>
            <a:ext cx="2395728" cy="667512"/>
          </a:xfrm>
          <a:prstGeom prst="rect">
            <a:avLst/>
          </a:prstGeom>
          <a:noFill/>
          <a:ln/>
        </p:spPr>
        <p:txBody>
          <a:bodyPr wrap="square" lIns="0" tIns="0" rIns="0" bIns="0" rtlCol="0" anchor="ctr"/>
          <a:lstStyle/>
          <a:p>
            <a:pPr indent="0" marL="0">
              <a:lnSpc>
                <a:spcPct val="135000"/>
              </a:lnSpc>
              <a:buNone/>
            </a:pPr>
            <a:r>
              <a:rPr lang="en-US" sz="950" dirty="0">
                <a:solidFill>
                  <a:srgbClr val="8B949E"/>
                </a:solidFill>
              </a:rPr>
              <a:t>AI companies pay for a fair, publicly disclosed battle. They get crowd data + exposure. Clearly labelled. Credibility depends on full transparency.</a:t>
            </a:r>
            <a:endParaRPr lang="en-US" sz="950" dirty="0"/>
          </a:p>
        </p:txBody>
      </p:sp>
      <p:sp>
        <p:nvSpPr>
          <p:cNvPr id="12" name="Shape 10"/>
          <p:cNvSpPr/>
          <p:nvPr/>
        </p:nvSpPr>
        <p:spPr>
          <a:xfrm>
            <a:off x="6080760" y="1920240"/>
            <a:ext cx="2651760" cy="1389888"/>
          </a:xfrm>
          <a:prstGeom prst="roundRect">
            <a:avLst>
              <a:gd name="adj" fmla="val 5921"/>
            </a:avLst>
          </a:prstGeom>
          <a:solidFill>
            <a:srgbClr val="1C2128"/>
          </a:solidFill>
          <a:ln w="6350">
            <a:solidFill>
              <a:srgbClr val="30363D"/>
            </a:solidFill>
            <a:prstDash val="solid"/>
          </a:ln>
        </p:spPr>
      </p:sp>
      <p:sp>
        <p:nvSpPr>
          <p:cNvPr id="13" name="Text 11"/>
          <p:cNvSpPr/>
          <p:nvPr/>
        </p:nvSpPr>
        <p:spPr>
          <a:xfrm>
            <a:off x="6217920" y="2029968"/>
            <a:ext cx="2377440" cy="201168"/>
          </a:xfrm>
          <a:prstGeom prst="rect">
            <a:avLst/>
          </a:prstGeom>
          <a:noFill/>
          <a:ln/>
        </p:spPr>
        <p:txBody>
          <a:bodyPr wrap="square" lIns="0" tIns="0" rIns="0" bIns="0" rtlCol="0" anchor="ctr"/>
          <a:lstStyle/>
          <a:p>
            <a:pPr indent="0" marL="0">
              <a:buNone/>
            </a:pPr>
            <a:r>
              <a:rPr lang="en-US" sz="900" b="1" dirty="0">
                <a:solidFill>
                  <a:srgbClr val="D2A8FF"/>
                </a:solidFill>
              </a:rPr>
              <a:t>Month 6+</a:t>
            </a:r>
            <a:endParaRPr lang="en-US" sz="900" dirty="0"/>
          </a:p>
        </p:txBody>
      </p:sp>
      <p:sp>
        <p:nvSpPr>
          <p:cNvPr id="14" name="Text 12"/>
          <p:cNvSpPr/>
          <p:nvPr/>
        </p:nvSpPr>
        <p:spPr>
          <a:xfrm>
            <a:off x="6217920" y="2240280"/>
            <a:ext cx="2377440" cy="274320"/>
          </a:xfrm>
          <a:prstGeom prst="rect">
            <a:avLst/>
          </a:prstGeom>
          <a:noFill/>
          <a:ln/>
        </p:spPr>
        <p:txBody>
          <a:bodyPr wrap="square" lIns="0" tIns="0" rIns="0" bIns="0" rtlCol="0" anchor="ctr"/>
          <a:lstStyle/>
          <a:p>
            <a:pPr indent="0" marL="0">
              <a:buNone/>
            </a:pPr>
            <a:r>
              <a:rPr lang="en-US" sz="1300" b="1" dirty="0">
                <a:solidFill>
                  <a:srgbClr val="FFFFFF"/>
                </a:solidFill>
              </a:rPr>
              <a:t>Data licensing</a:t>
            </a:r>
            <a:endParaRPr lang="en-US" sz="1300" dirty="0"/>
          </a:p>
        </p:txBody>
      </p:sp>
      <p:sp>
        <p:nvSpPr>
          <p:cNvPr id="15" name="Text 13"/>
          <p:cNvSpPr/>
          <p:nvPr/>
        </p:nvSpPr>
        <p:spPr>
          <a:xfrm>
            <a:off x="6217920" y="2523744"/>
            <a:ext cx="2395728" cy="667512"/>
          </a:xfrm>
          <a:prstGeom prst="rect">
            <a:avLst/>
          </a:prstGeom>
          <a:noFill/>
          <a:ln/>
        </p:spPr>
        <p:txBody>
          <a:bodyPr wrap="square" lIns="0" tIns="0" rIns="0" bIns="0" rtlCol="0" anchor="ctr"/>
          <a:lstStyle/>
          <a:p>
            <a:pPr indent="0" marL="0">
              <a:lnSpc>
                <a:spcPct val="135000"/>
              </a:lnSpc>
              <a:buNone/>
            </a:pPr>
            <a:r>
              <a:rPr lang="en-US" sz="950" dirty="0">
                <a:solidFill>
                  <a:srgbClr val="8B949E"/>
                </a:solidFill>
              </a:rPr>
              <a:t>500k+ blind task-specific preference votes is genuinely valuable for RLHF. Anthropic and OpenAI spend millions building this internally. This is the real business.</a:t>
            </a:r>
            <a:endParaRPr lang="en-US" sz="950" dirty="0"/>
          </a:p>
        </p:txBody>
      </p:sp>
      <p:sp>
        <p:nvSpPr>
          <p:cNvPr id="16" name="Shape 14"/>
          <p:cNvSpPr/>
          <p:nvPr/>
        </p:nvSpPr>
        <p:spPr>
          <a:xfrm>
            <a:off x="411480" y="3474720"/>
            <a:ext cx="2651760" cy="1389888"/>
          </a:xfrm>
          <a:prstGeom prst="roundRect">
            <a:avLst>
              <a:gd name="adj" fmla="val 5921"/>
            </a:avLst>
          </a:prstGeom>
          <a:solidFill>
            <a:srgbClr val="1C2128"/>
          </a:solidFill>
          <a:ln w="6350">
            <a:solidFill>
              <a:srgbClr val="30363D"/>
            </a:solidFill>
            <a:prstDash val="solid"/>
          </a:ln>
        </p:spPr>
      </p:sp>
      <p:sp>
        <p:nvSpPr>
          <p:cNvPr id="17" name="Text 15"/>
          <p:cNvSpPr/>
          <p:nvPr/>
        </p:nvSpPr>
        <p:spPr>
          <a:xfrm>
            <a:off x="548640" y="3584448"/>
            <a:ext cx="2377440" cy="201168"/>
          </a:xfrm>
          <a:prstGeom prst="rect">
            <a:avLst/>
          </a:prstGeom>
          <a:noFill/>
          <a:ln/>
        </p:spPr>
        <p:txBody>
          <a:bodyPr wrap="square" lIns="0" tIns="0" rIns="0" bIns="0" rtlCol="0" anchor="ctr"/>
          <a:lstStyle/>
          <a:p>
            <a:pPr indent="0" marL="0">
              <a:buNone/>
            </a:pPr>
            <a:r>
              <a:rPr lang="en-US" sz="900" b="1" dirty="0">
                <a:solidFill>
                  <a:srgbClr val="D2A8FF"/>
                </a:solidFill>
              </a:rPr>
              <a:t>Month 6+</a:t>
            </a:r>
            <a:endParaRPr lang="en-US" sz="900" dirty="0"/>
          </a:p>
        </p:txBody>
      </p:sp>
      <p:sp>
        <p:nvSpPr>
          <p:cNvPr id="18" name="Text 16"/>
          <p:cNvSpPr/>
          <p:nvPr/>
        </p:nvSpPr>
        <p:spPr>
          <a:xfrm>
            <a:off x="548640" y="3794760"/>
            <a:ext cx="2377440" cy="274320"/>
          </a:xfrm>
          <a:prstGeom prst="rect">
            <a:avLst/>
          </a:prstGeom>
          <a:noFill/>
          <a:ln/>
        </p:spPr>
        <p:txBody>
          <a:bodyPr wrap="square" lIns="0" tIns="0" rIns="0" bIns="0" rtlCol="0" anchor="ctr"/>
          <a:lstStyle/>
          <a:p>
            <a:pPr indent="0" marL="0">
              <a:buNone/>
            </a:pPr>
            <a:r>
              <a:rPr lang="en-US" sz="1300" b="1" dirty="0">
                <a:solidFill>
                  <a:srgbClr val="FFFFFF"/>
                </a:solidFill>
              </a:rPr>
              <a:t>Secret model testing</a:t>
            </a:r>
            <a:endParaRPr lang="en-US" sz="1300" dirty="0"/>
          </a:p>
        </p:txBody>
      </p:sp>
      <p:sp>
        <p:nvSpPr>
          <p:cNvPr id="19" name="Text 17"/>
          <p:cNvSpPr/>
          <p:nvPr/>
        </p:nvSpPr>
        <p:spPr>
          <a:xfrm>
            <a:off x="548640" y="4078224"/>
            <a:ext cx="2395728" cy="667512"/>
          </a:xfrm>
          <a:prstGeom prst="rect">
            <a:avLst/>
          </a:prstGeom>
          <a:noFill/>
          <a:ln/>
        </p:spPr>
        <p:txBody>
          <a:bodyPr wrap="square" lIns="0" tIns="0" rIns="0" bIns="0" rtlCol="0" anchor="ctr"/>
          <a:lstStyle/>
          <a:p>
            <a:pPr indent="0" marL="0">
              <a:lnSpc>
                <a:spcPct val="135000"/>
              </a:lnSpc>
              <a:buNone/>
            </a:pPr>
            <a:r>
              <a:rPr lang="en-US" sz="950" dirty="0">
                <a:solidFill>
                  <a:srgbClr val="8B949E"/>
                </a:solidFill>
              </a:rPr>
              <a:t>New model pre-launch: 10,000 blind votes, zero brand bias, task-specific breakdown. Arena already does this (GPT-5 as 'summit', Gemini as 'Nano Banana'). The offer becomes available once you have traffic.</a:t>
            </a:r>
            <a:endParaRPr lang="en-US" sz="950" dirty="0"/>
          </a:p>
        </p:txBody>
      </p:sp>
      <p:sp>
        <p:nvSpPr>
          <p:cNvPr id="20" name="Shape 18"/>
          <p:cNvSpPr/>
          <p:nvPr/>
        </p:nvSpPr>
        <p:spPr>
          <a:xfrm>
            <a:off x="3246120" y="3474720"/>
            <a:ext cx="2651760" cy="1389888"/>
          </a:xfrm>
          <a:prstGeom prst="roundRect">
            <a:avLst>
              <a:gd name="adj" fmla="val 5921"/>
            </a:avLst>
          </a:prstGeom>
          <a:solidFill>
            <a:srgbClr val="1C2128"/>
          </a:solidFill>
          <a:ln w="6350">
            <a:solidFill>
              <a:srgbClr val="30363D"/>
            </a:solidFill>
            <a:prstDash val="solid"/>
          </a:ln>
        </p:spPr>
      </p:sp>
      <p:sp>
        <p:nvSpPr>
          <p:cNvPr id="21" name="Text 19"/>
          <p:cNvSpPr/>
          <p:nvPr/>
        </p:nvSpPr>
        <p:spPr>
          <a:xfrm>
            <a:off x="3383280" y="3584448"/>
            <a:ext cx="2377440" cy="201168"/>
          </a:xfrm>
          <a:prstGeom prst="rect">
            <a:avLst/>
          </a:prstGeom>
          <a:noFill/>
          <a:ln/>
        </p:spPr>
        <p:txBody>
          <a:bodyPr wrap="square" lIns="0" tIns="0" rIns="0" bIns="0" rtlCol="0" anchor="ctr"/>
          <a:lstStyle/>
          <a:p>
            <a:pPr indent="0" marL="0">
              <a:buNone/>
            </a:pPr>
            <a:r>
              <a:rPr lang="en-US" sz="900" b="1" dirty="0">
                <a:solidFill>
                  <a:srgbClr val="8B949E"/>
                </a:solidFill>
              </a:rPr>
              <a:t>Later</a:t>
            </a:r>
            <a:endParaRPr lang="en-US" sz="900" dirty="0"/>
          </a:p>
        </p:txBody>
      </p:sp>
      <p:sp>
        <p:nvSpPr>
          <p:cNvPr id="22" name="Text 20"/>
          <p:cNvSpPr/>
          <p:nvPr/>
        </p:nvSpPr>
        <p:spPr>
          <a:xfrm>
            <a:off x="3383280" y="3794760"/>
            <a:ext cx="2377440" cy="274320"/>
          </a:xfrm>
          <a:prstGeom prst="rect">
            <a:avLst/>
          </a:prstGeom>
          <a:noFill/>
          <a:ln/>
        </p:spPr>
        <p:txBody>
          <a:bodyPr wrap="square" lIns="0" tIns="0" rIns="0" bIns="0" rtlCol="0" anchor="ctr"/>
          <a:lstStyle/>
          <a:p>
            <a:pPr indent="0" marL="0">
              <a:buNone/>
            </a:pPr>
            <a:r>
              <a:rPr lang="en-US" sz="1300" b="1" dirty="0">
                <a:solidFill>
                  <a:srgbClr val="FFFFFF"/>
                </a:solidFill>
              </a:rPr>
              <a:t>Pro tier</a:t>
            </a:r>
            <a:endParaRPr lang="en-US" sz="1300" dirty="0"/>
          </a:p>
        </p:txBody>
      </p:sp>
      <p:sp>
        <p:nvSpPr>
          <p:cNvPr id="23" name="Text 21"/>
          <p:cNvSpPr/>
          <p:nvPr/>
        </p:nvSpPr>
        <p:spPr>
          <a:xfrm>
            <a:off x="3383280" y="4078224"/>
            <a:ext cx="2395728" cy="667512"/>
          </a:xfrm>
          <a:prstGeom prst="rect">
            <a:avLst/>
          </a:prstGeom>
          <a:noFill/>
          <a:ln/>
        </p:spPr>
        <p:txBody>
          <a:bodyPr wrap="square" lIns="0" tIns="0" rIns="0" bIns="0" rtlCol="0" anchor="ctr"/>
          <a:lstStyle/>
          <a:p>
            <a:pPr indent="0" marL="0">
              <a:lnSpc>
                <a:spcPct val="135000"/>
              </a:lnSpc>
              <a:buNone/>
            </a:pPr>
            <a:r>
              <a:rPr lang="en-US" sz="950" dirty="0">
                <a:solidFill>
                  <a:srgbClr val="8B949E"/>
                </a:solidFill>
              </a:rPr>
              <a:t>Unlimited private battles, full category breakdown, export results, saved history. For marketers + devs who compare AI outputs professionally. Not the main product.</a:t>
            </a:r>
            <a:endParaRPr lang="en-US" sz="950" dirty="0"/>
          </a:p>
        </p:txBody>
      </p:sp>
      <p:sp>
        <p:nvSpPr>
          <p:cNvPr id="24" name="Shape 22"/>
          <p:cNvSpPr/>
          <p:nvPr/>
        </p:nvSpPr>
        <p:spPr>
          <a:xfrm>
            <a:off x="6080760" y="3474720"/>
            <a:ext cx="2651760" cy="1389888"/>
          </a:xfrm>
          <a:prstGeom prst="roundRect">
            <a:avLst>
              <a:gd name="adj" fmla="val 5921"/>
            </a:avLst>
          </a:prstGeom>
          <a:solidFill>
            <a:srgbClr val="1A0505"/>
          </a:solidFill>
          <a:ln w="6350">
            <a:solidFill>
              <a:srgbClr val="F85149"/>
            </a:solidFill>
            <a:prstDash val="solid"/>
          </a:ln>
        </p:spPr>
      </p:sp>
      <p:sp>
        <p:nvSpPr>
          <p:cNvPr id="25" name="Text 23"/>
          <p:cNvSpPr/>
          <p:nvPr/>
        </p:nvSpPr>
        <p:spPr>
          <a:xfrm>
            <a:off x="6217920" y="3584448"/>
            <a:ext cx="2377440" cy="201168"/>
          </a:xfrm>
          <a:prstGeom prst="rect">
            <a:avLst/>
          </a:prstGeom>
          <a:noFill/>
          <a:ln/>
        </p:spPr>
        <p:txBody>
          <a:bodyPr wrap="square" lIns="0" tIns="0" rIns="0" bIns="0" rtlCol="0" anchor="ctr"/>
          <a:lstStyle/>
          <a:p>
            <a:pPr indent="0" marL="0">
              <a:buNone/>
            </a:pPr>
            <a:r>
              <a:rPr lang="en-US" sz="900" b="1" dirty="0">
                <a:solidFill>
                  <a:srgbClr val="F85149"/>
                </a:solidFill>
              </a:rPr>
              <a:t>Never</a:t>
            </a:r>
            <a:endParaRPr lang="en-US" sz="900" dirty="0"/>
          </a:p>
        </p:txBody>
      </p:sp>
      <p:sp>
        <p:nvSpPr>
          <p:cNvPr id="26" name="Text 24"/>
          <p:cNvSpPr/>
          <p:nvPr/>
        </p:nvSpPr>
        <p:spPr>
          <a:xfrm>
            <a:off x="6217920" y="3794760"/>
            <a:ext cx="2377440" cy="274320"/>
          </a:xfrm>
          <a:prstGeom prst="rect">
            <a:avLst/>
          </a:prstGeom>
          <a:noFill/>
          <a:ln/>
        </p:spPr>
        <p:txBody>
          <a:bodyPr wrap="square" lIns="0" tIns="0" rIns="0" bIns="0" rtlCol="0" anchor="ctr"/>
          <a:lstStyle/>
          <a:p>
            <a:pPr indent="0" marL="0">
              <a:buNone/>
            </a:pPr>
            <a:r>
              <a:rPr lang="en-US" sz="1300" b="1" dirty="0">
                <a:solidFill>
                  <a:srgbClr val="F85149"/>
                </a:solidFill>
              </a:rPr>
              <a:t>Display ads</a:t>
            </a:r>
            <a:endParaRPr lang="en-US" sz="1300" dirty="0"/>
          </a:p>
        </p:txBody>
      </p:sp>
      <p:sp>
        <p:nvSpPr>
          <p:cNvPr id="27" name="Text 25"/>
          <p:cNvSpPr/>
          <p:nvPr/>
        </p:nvSpPr>
        <p:spPr>
          <a:xfrm>
            <a:off x="6217920" y="4078224"/>
            <a:ext cx="2395728" cy="667512"/>
          </a:xfrm>
          <a:prstGeom prst="rect">
            <a:avLst/>
          </a:prstGeom>
          <a:noFill/>
          <a:ln/>
        </p:spPr>
        <p:txBody>
          <a:bodyPr wrap="square" lIns="0" tIns="0" rIns="0" bIns="0" rtlCol="0" anchor="ctr"/>
          <a:lstStyle/>
          <a:p>
            <a:pPr indent="0" marL="0">
              <a:lnSpc>
                <a:spcPct val="135000"/>
              </a:lnSpc>
              <a:buNone/>
            </a:pPr>
            <a:r>
              <a:rPr lang="en-US" sz="950" dirty="0">
                <a:solidFill>
                  <a:srgbClr val="8B949E"/>
                </a:solidFill>
              </a:rPr>
              <a:t>The entire brand is 'no bias, just human votes.' Banner ads for AI tools kill that trust instantly. This is a non-negotiable.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TECH STACK + BUDGET</a:t>
            </a:r>
            <a:endParaRPr lang="en-US" sz="1000" dirty="0"/>
          </a:p>
        </p:txBody>
      </p:sp>
      <p:sp>
        <p:nvSpPr>
          <p:cNvPr id="3" name="Text 1"/>
          <p:cNvSpPr/>
          <p:nvPr/>
        </p:nvSpPr>
        <p:spPr>
          <a:xfrm>
            <a:off x="594360" y="658368"/>
            <a:ext cx="7772400" cy="109728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rPr>
              <a:t>Built to ship fast.</a:t>
            </a:r>
            <a:endParaRPr lang="en-US" sz="3400" dirty="0"/>
          </a:p>
          <a:p>
            <a:pPr indent="0" marL="0">
              <a:lnSpc>
                <a:spcPct val="120000"/>
              </a:lnSpc>
              <a:buNone/>
            </a:pPr>
            <a:r>
              <a:rPr lang="en-US" sz="3400" b="1" dirty="0">
                <a:solidFill>
                  <a:srgbClr val="FFFFFF"/>
                </a:solidFill>
              </a:rPr>
              <a:t>$50/month to run.</a:t>
            </a:r>
            <a:endParaRPr lang="en-US" sz="3400" dirty="0"/>
          </a:p>
        </p:txBody>
      </p:sp>
      <p:sp>
        <p:nvSpPr>
          <p:cNvPr id="4" name="Shape 2"/>
          <p:cNvSpPr/>
          <p:nvPr/>
        </p:nvSpPr>
        <p:spPr>
          <a:xfrm>
            <a:off x="457200" y="1920240"/>
            <a:ext cx="4023360" cy="1078992"/>
          </a:xfrm>
          <a:prstGeom prst="roundRect">
            <a:avLst>
              <a:gd name="adj" fmla="val 7627"/>
            </a:avLst>
          </a:prstGeom>
          <a:solidFill>
            <a:srgbClr val="1C2128"/>
          </a:solidFill>
          <a:ln w="6350">
            <a:solidFill>
              <a:srgbClr val="30363D"/>
            </a:solidFill>
            <a:prstDash val="solid"/>
          </a:ln>
        </p:spPr>
      </p:sp>
      <p:sp>
        <p:nvSpPr>
          <p:cNvPr id="5" name="Text 3"/>
          <p:cNvSpPr/>
          <p:nvPr/>
        </p:nvSpPr>
        <p:spPr>
          <a:xfrm>
            <a:off x="621792" y="2011680"/>
            <a:ext cx="2286000" cy="274320"/>
          </a:xfrm>
          <a:prstGeom prst="rect">
            <a:avLst/>
          </a:prstGeom>
          <a:noFill/>
          <a:ln/>
        </p:spPr>
        <p:txBody>
          <a:bodyPr wrap="square" lIns="0" tIns="0" rIns="0" bIns="0" rtlCol="0" anchor="ctr"/>
          <a:lstStyle/>
          <a:p>
            <a:pPr indent="0" marL="0">
              <a:buNone/>
            </a:pPr>
            <a:r>
              <a:rPr lang="en-US" sz="1500" b="1" dirty="0">
                <a:solidFill>
                  <a:srgbClr val="C3F73A"/>
                </a:solidFill>
              </a:rPr>
              <a:t>Svelte 5</a:t>
            </a:r>
            <a:endParaRPr lang="en-US" sz="1500" dirty="0"/>
          </a:p>
        </p:txBody>
      </p:sp>
      <p:sp>
        <p:nvSpPr>
          <p:cNvPr id="6" name="Text 4"/>
          <p:cNvSpPr/>
          <p:nvPr/>
        </p:nvSpPr>
        <p:spPr>
          <a:xfrm>
            <a:off x="621792" y="2011680"/>
            <a:ext cx="3657600" cy="274320"/>
          </a:xfrm>
          <a:prstGeom prst="rect">
            <a:avLst/>
          </a:prstGeom>
          <a:noFill/>
          <a:ln/>
        </p:spPr>
        <p:txBody>
          <a:bodyPr wrap="square" lIns="0" tIns="0" rIns="0" bIns="0" rtlCol="0" anchor="ctr"/>
          <a:lstStyle/>
          <a:p>
            <a:pPr algn="r" indent="0" marL="0">
              <a:buNone/>
            </a:pPr>
            <a:r>
              <a:rPr lang="en-US" sz="1100" dirty="0">
                <a:solidFill>
                  <a:srgbClr val="8B949E"/>
                </a:solidFill>
              </a:rPr>
              <a:t>Frontend framework</a:t>
            </a:r>
            <a:endParaRPr lang="en-US" sz="1100" dirty="0"/>
          </a:p>
        </p:txBody>
      </p:sp>
      <p:sp>
        <p:nvSpPr>
          <p:cNvPr id="7" name="Text 5"/>
          <p:cNvSpPr/>
          <p:nvPr/>
        </p:nvSpPr>
        <p:spPr>
          <a:xfrm>
            <a:off x="621792" y="2340864"/>
            <a:ext cx="3657600" cy="548640"/>
          </a:xfrm>
          <a:prstGeom prst="rect">
            <a:avLst/>
          </a:prstGeom>
          <a:noFill/>
          <a:ln/>
        </p:spPr>
        <p:txBody>
          <a:bodyPr wrap="square" lIns="0" tIns="0" rIns="0" bIns="0" rtlCol="0" anchor="ctr"/>
          <a:lstStyle/>
          <a:p>
            <a:pPr indent="0" marL="0">
              <a:lnSpc>
                <a:spcPct val="135000"/>
              </a:lnSpc>
              <a:buNone/>
            </a:pPr>
            <a:r>
              <a:rPr lang="en-US" sz="1100" dirty="0">
                <a:solidFill>
                  <a:srgbClr val="8B949E"/>
                </a:solidFill>
              </a:rPr>
              <a:t>Fast, lightweight, perfect for interactive battle UI and reactive vote counts.</a:t>
            </a:r>
            <a:endParaRPr lang="en-US" sz="1100" dirty="0"/>
          </a:p>
        </p:txBody>
      </p:sp>
      <p:sp>
        <p:nvSpPr>
          <p:cNvPr id="8" name="Shape 6"/>
          <p:cNvSpPr/>
          <p:nvPr/>
        </p:nvSpPr>
        <p:spPr>
          <a:xfrm>
            <a:off x="4754880" y="1920240"/>
            <a:ext cx="4023360" cy="1078992"/>
          </a:xfrm>
          <a:prstGeom prst="roundRect">
            <a:avLst>
              <a:gd name="adj" fmla="val 7627"/>
            </a:avLst>
          </a:prstGeom>
          <a:solidFill>
            <a:srgbClr val="1C2128"/>
          </a:solidFill>
          <a:ln w="6350">
            <a:solidFill>
              <a:srgbClr val="30363D"/>
            </a:solidFill>
            <a:prstDash val="solid"/>
          </a:ln>
        </p:spPr>
      </p:sp>
      <p:sp>
        <p:nvSpPr>
          <p:cNvPr id="9" name="Text 7"/>
          <p:cNvSpPr/>
          <p:nvPr/>
        </p:nvSpPr>
        <p:spPr>
          <a:xfrm>
            <a:off x="4919472" y="2011680"/>
            <a:ext cx="2286000" cy="274320"/>
          </a:xfrm>
          <a:prstGeom prst="rect">
            <a:avLst/>
          </a:prstGeom>
          <a:noFill/>
          <a:ln/>
        </p:spPr>
        <p:txBody>
          <a:bodyPr wrap="square" lIns="0" tIns="0" rIns="0" bIns="0" rtlCol="0" anchor="ctr"/>
          <a:lstStyle/>
          <a:p>
            <a:pPr indent="0" marL="0">
              <a:buNone/>
            </a:pPr>
            <a:r>
              <a:rPr lang="en-US" sz="1500" b="1" dirty="0">
                <a:solidFill>
                  <a:srgbClr val="C3F73A"/>
                </a:solidFill>
              </a:rPr>
              <a:t>Supabase</a:t>
            </a:r>
            <a:endParaRPr lang="en-US" sz="1500" dirty="0"/>
          </a:p>
        </p:txBody>
      </p:sp>
      <p:sp>
        <p:nvSpPr>
          <p:cNvPr id="10" name="Text 8"/>
          <p:cNvSpPr/>
          <p:nvPr/>
        </p:nvSpPr>
        <p:spPr>
          <a:xfrm>
            <a:off x="4919472" y="2011680"/>
            <a:ext cx="3657600" cy="274320"/>
          </a:xfrm>
          <a:prstGeom prst="rect">
            <a:avLst/>
          </a:prstGeom>
          <a:noFill/>
          <a:ln/>
        </p:spPr>
        <p:txBody>
          <a:bodyPr wrap="square" lIns="0" tIns="0" rIns="0" bIns="0" rtlCol="0" anchor="ctr"/>
          <a:lstStyle/>
          <a:p>
            <a:pPr algn="r" indent="0" marL="0">
              <a:buNone/>
            </a:pPr>
            <a:r>
              <a:rPr lang="en-US" sz="1100" dirty="0">
                <a:solidFill>
                  <a:srgbClr val="8B949E"/>
                </a:solidFill>
              </a:rPr>
              <a:t>Database + auth</a:t>
            </a:r>
            <a:endParaRPr lang="en-US" sz="1100" dirty="0"/>
          </a:p>
        </p:txBody>
      </p:sp>
      <p:sp>
        <p:nvSpPr>
          <p:cNvPr id="11" name="Text 9"/>
          <p:cNvSpPr/>
          <p:nvPr/>
        </p:nvSpPr>
        <p:spPr>
          <a:xfrm>
            <a:off x="4919472" y="2340864"/>
            <a:ext cx="3657600" cy="548640"/>
          </a:xfrm>
          <a:prstGeom prst="rect">
            <a:avLst/>
          </a:prstGeom>
          <a:noFill/>
          <a:ln/>
        </p:spPr>
        <p:txBody>
          <a:bodyPr wrap="square" lIns="0" tIns="0" rIns="0" bIns="0" rtlCol="0" anchor="ctr"/>
          <a:lstStyle/>
          <a:p>
            <a:pPr indent="0" marL="0">
              <a:lnSpc>
                <a:spcPct val="135000"/>
              </a:lnSpc>
              <a:buNone/>
            </a:pPr>
            <a:r>
              <a:rPr lang="en-US" sz="1100" dirty="0">
                <a:solidFill>
                  <a:srgbClr val="8B949E"/>
                </a:solidFill>
              </a:rPr>
              <a:t>Battles table, votes table, leaderboard views. Free tier handles MVP scale easily.</a:t>
            </a:r>
            <a:endParaRPr lang="en-US" sz="1100" dirty="0"/>
          </a:p>
        </p:txBody>
      </p:sp>
      <p:sp>
        <p:nvSpPr>
          <p:cNvPr id="12" name="Shape 10"/>
          <p:cNvSpPr/>
          <p:nvPr/>
        </p:nvSpPr>
        <p:spPr>
          <a:xfrm>
            <a:off x="457200" y="3154680"/>
            <a:ext cx="4023360" cy="1078992"/>
          </a:xfrm>
          <a:prstGeom prst="roundRect">
            <a:avLst>
              <a:gd name="adj" fmla="val 7627"/>
            </a:avLst>
          </a:prstGeom>
          <a:solidFill>
            <a:srgbClr val="1C2128"/>
          </a:solidFill>
          <a:ln w="6350">
            <a:solidFill>
              <a:srgbClr val="30363D"/>
            </a:solidFill>
            <a:prstDash val="solid"/>
          </a:ln>
        </p:spPr>
      </p:sp>
      <p:sp>
        <p:nvSpPr>
          <p:cNvPr id="13" name="Text 11"/>
          <p:cNvSpPr/>
          <p:nvPr/>
        </p:nvSpPr>
        <p:spPr>
          <a:xfrm>
            <a:off x="621792" y="3246120"/>
            <a:ext cx="2286000" cy="274320"/>
          </a:xfrm>
          <a:prstGeom prst="rect">
            <a:avLst/>
          </a:prstGeom>
          <a:noFill/>
          <a:ln/>
        </p:spPr>
        <p:txBody>
          <a:bodyPr wrap="square" lIns="0" tIns="0" rIns="0" bIns="0" rtlCol="0" anchor="ctr"/>
          <a:lstStyle/>
          <a:p>
            <a:pPr indent="0" marL="0">
              <a:buNone/>
            </a:pPr>
            <a:r>
              <a:rPr lang="en-US" sz="1500" b="1" dirty="0">
                <a:solidFill>
                  <a:srgbClr val="C3F73A"/>
                </a:solidFill>
              </a:rPr>
              <a:t>Netlify</a:t>
            </a:r>
            <a:endParaRPr lang="en-US" sz="1500" dirty="0"/>
          </a:p>
        </p:txBody>
      </p:sp>
      <p:sp>
        <p:nvSpPr>
          <p:cNvPr id="14" name="Text 12"/>
          <p:cNvSpPr/>
          <p:nvPr/>
        </p:nvSpPr>
        <p:spPr>
          <a:xfrm>
            <a:off x="621792" y="3246120"/>
            <a:ext cx="3657600" cy="274320"/>
          </a:xfrm>
          <a:prstGeom prst="rect">
            <a:avLst/>
          </a:prstGeom>
          <a:noFill/>
          <a:ln/>
        </p:spPr>
        <p:txBody>
          <a:bodyPr wrap="square" lIns="0" tIns="0" rIns="0" bIns="0" rtlCol="0" anchor="ctr"/>
          <a:lstStyle/>
          <a:p>
            <a:pPr algn="r" indent="0" marL="0">
              <a:buNone/>
            </a:pPr>
            <a:r>
              <a:rPr lang="en-US" sz="1100" dirty="0">
                <a:solidFill>
                  <a:srgbClr val="8B949E"/>
                </a:solidFill>
              </a:rPr>
              <a:t>Hosting + deploy</a:t>
            </a:r>
            <a:endParaRPr lang="en-US" sz="1100" dirty="0"/>
          </a:p>
        </p:txBody>
      </p:sp>
      <p:sp>
        <p:nvSpPr>
          <p:cNvPr id="15" name="Text 13"/>
          <p:cNvSpPr/>
          <p:nvPr/>
        </p:nvSpPr>
        <p:spPr>
          <a:xfrm>
            <a:off x="621792" y="3575304"/>
            <a:ext cx="3657600" cy="548640"/>
          </a:xfrm>
          <a:prstGeom prst="rect">
            <a:avLst/>
          </a:prstGeom>
          <a:noFill/>
          <a:ln/>
        </p:spPr>
        <p:txBody>
          <a:bodyPr wrap="square" lIns="0" tIns="0" rIns="0" bIns="0" rtlCol="0" anchor="ctr"/>
          <a:lstStyle/>
          <a:p>
            <a:pPr indent="0" marL="0">
              <a:lnSpc>
                <a:spcPct val="135000"/>
              </a:lnSpc>
              <a:buNone/>
            </a:pPr>
            <a:r>
              <a:rPr lang="en-US" sz="1100" dirty="0">
                <a:solidFill>
                  <a:srgbClr val="8B949E"/>
                </a:solidFill>
              </a:rPr>
              <a:t>Free tier. Auto-deploy from Git. Edge functions for any server-side logic.</a:t>
            </a:r>
            <a:endParaRPr lang="en-US" sz="1100" dirty="0"/>
          </a:p>
        </p:txBody>
      </p:sp>
      <p:sp>
        <p:nvSpPr>
          <p:cNvPr id="16" name="Shape 14"/>
          <p:cNvSpPr/>
          <p:nvPr/>
        </p:nvSpPr>
        <p:spPr>
          <a:xfrm>
            <a:off x="4754880" y="3154680"/>
            <a:ext cx="4023360" cy="1078992"/>
          </a:xfrm>
          <a:prstGeom prst="roundRect">
            <a:avLst>
              <a:gd name="adj" fmla="val 7627"/>
            </a:avLst>
          </a:prstGeom>
          <a:solidFill>
            <a:srgbClr val="1C2128"/>
          </a:solidFill>
          <a:ln w="6350">
            <a:solidFill>
              <a:srgbClr val="30363D"/>
            </a:solidFill>
            <a:prstDash val="solid"/>
          </a:ln>
        </p:spPr>
      </p:sp>
      <p:sp>
        <p:nvSpPr>
          <p:cNvPr id="17" name="Text 15"/>
          <p:cNvSpPr/>
          <p:nvPr/>
        </p:nvSpPr>
        <p:spPr>
          <a:xfrm>
            <a:off x="4919472" y="3246120"/>
            <a:ext cx="2286000" cy="274320"/>
          </a:xfrm>
          <a:prstGeom prst="rect">
            <a:avLst/>
          </a:prstGeom>
          <a:noFill/>
          <a:ln/>
        </p:spPr>
        <p:txBody>
          <a:bodyPr wrap="square" lIns="0" tIns="0" rIns="0" bIns="0" rtlCol="0" anchor="ctr"/>
          <a:lstStyle/>
          <a:p>
            <a:pPr indent="0" marL="0">
              <a:buNone/>
            </a:pPr>
            <a:r>
              <a:rPr lang="en-US" sz="1500" b="1" dirty="0">
                <a:solidFill>
                  <a:srgbClr val="C3F73A"/>
                </a:solidFill>
              </a:rPr>
              <a:t>OpenRouter</a:t>
            </a:r>
            <a:endParaRPr lang="en-US" sz="1500" dirty="0"/>
          </a:p>
        </p:txBody>
      </p:sp>
      <p:sp>
        <p:nvSpPr>
          <p:cNvPr id="18" name="Text 16"/>
          <p:cNvSpPr/>
          <p:nvPr/>
        </p:nvSpPr>
        <p:spPr>
          <a:xfrm>
            <a:off x="4919472" y="3246120"/>
            <a:ext cx="3657600" cy="274320"/>
          </a:xfrm>
          <a:prstGeom prst="rect">
            <a:avLst/>
          </a:prstGeom>
          <a:noFill/>
          <a:ln/>
        </p:spPr>
        <p:txBody>
          <a:bodyPr wrap="square" lIns="0" tIns="0" rIns="0" bIns="0" rtlCol="0" anchor="ctr"/>
          <a:lstStyle/>
          <a:p>
            <a:pPr algn="r" indent="0" marL="0">
              <a:buNone/>
            </a:pPr>
            <a:r>
              <a:rPr lang="en-US" sz="1100" dirty="0">
                <a:solidFill>
                  <a:srgbClr val="8B949E"/>
                </a:solidFill>
              </a:rPr>
              <a:t>All AI models</a:t>
            </a:r>
            <a:endParaRPr lang="en-US" sz="1100" dirty="0"/>
          </a:p>
        </p:txBody>
      </p:sp>
      <p:sp>
        <p:nvSpPr>
          <p:cNvPr id="19" name="Text 17"/>
          <p:cNvSpPr/>
          <p:nvPr/>
        </p:nvSpPr>
        <p:spPr>
          <a:xfrm>
            <a:off x="4919472" y="3575304"/>
            <a:ext cx="3657600" cy="548640"/>
          </a:xfrm>
          <a:prstGeom prst="rect">
            <a:avLst/>
          </a:prstGeom>
          <a:noFill/>
          <a:ln/>
        </p:spPr>
        <p:txBody>
          <a:bodyPr wrap="square" lIns="0" tIns="0" rIns="0" bIns="0" rtlCol="0" anchor="ctr"/>
          <a:lstStyle/>
          <a:p>
            <a:pPr indent="0" marL="0">
              <a:lnSpc>
                <a:spcPct val="135000"/>
              </a:lnSpc>
              <a:buNone/>
            </a:pPr>
            <a:r>
              <a:rPr lang="en-US" sz="1100" dirty="0">
                <a:solidFill>
                  <a:srgbClr val="8B949E"/>
                </a:solidFill>
              </a:rPr>
              <a:t>One API, one bill. Claude + GPT + Gemini + Grok + Perplexity. Swap model versions in one line.</a:t>
            </a:r>
            <a:endParaRPr lang="en-US" sz="1100" dirty="0"/>
          </a:p>
        </p:txBody>
      </p:sp>
      <p:sp>
        <p:nvSpPr>
          <p:cNvPr id="20" name="Shape 18"/>
          <p:cNvSpPr/>
          <p:nvPr/>
        </p:nvSpPr>
        <p:spPr>
          <a:xfrm>
            <a:off x="502920" y="4315968"/>
            <a:ext cx="8321040" cy="685800"/>
          </a:xfrm>
          <a:prstGeom prst="roundRect">
            <a:avLst>
              <a:gd name="adj" fmla="val 12000"/>
            </a:avLst>
          </a:prstGeom>
          <a:solidFill>
            <a:srgbClr val="1C2128"/>
          </a:solidFill>
          <a:ln w="12700">
            <a:solidFill>
              <a:srgbClr val="C3F73A"/>
            </a:solidFill>
            <a:prstDash val="solid"/>
          </a:ln>
        </p:spPr>
      </p:sp>
      <p:sp>
        <p:nvSpPr>
          <p:cNvPr id="21" name="Text 19"/>
          <p:cNvSpPr/>
          <p:nvPr/>
        </p:nvSpPr>
        <p:spPr>
          <a:xfrm>
            <a:off x="685800" y="4389120"/>
            <a:ext cx="1828800" cy="228600"/>
          </a:xfrm>
          <a:prstGeom prst="rect">
            <a:avLst/>
          </a:prstGeom>
          <a:noFill/>
          <a:ln/>
        </p:spPr>
        <p:txBody>
          <a:bodyPr wrap="square" lIns="0" tIns="0" rIns="0" bIns="0" rtlCol="0" anchor="ctr"/>
          <a:lstStyle/>
          <a:p>
            <a:pPr indent="0" marL="0">
              <a:buNone/>
            </a:pPr>
            <a:r>
              <a:rPr lang="en-US" sz="1000" b="1" dirty="0">
                <a:solidFill>
                  <a:srgbClr val="C3F73A"/>
                </a:solidFill>
              </a:rPr>
              <a:t>MONTHLY BUDGET</a:t>
            </a:r>
            <a:endParaRPr lang="en-US" sz="1000" dirty="0"/>
          </a:p>
        </p:txBody>
      </p:sp>
      <p:sp>
        <p:nvSpPr>
          <p:cNvPr id="22" name="Text 20"/>
          <p:cNvSpPr/>
          <p:nvPr/>
        </p:nvSpPr>
        <p:spPr>
          <a:xfrm>
            <a:off x="685800" y="4645152"/>
            <a:ext cx="7863840" cy="256032"/>
          </a:xfrm>
          <a:prstGeom prst="rect">
            <a:avLst/>
          </a:prstGeom>
          <a:noFill/>
          <a:ln/>
        </p:spPr>
        <p:txBody>
          <a:bodyPr wrap="square" lIns="0" tIns="0" rIns="0" bIns="0" rtlCol="0" anchor="ctr"/>
          <a:lstStyle/>
          <a:p>
            <a:pPr indent="0" marL="0">
              <a:buNone/>
            </a:pPr>
            <a:r>
              <a:rPr lang="en-US" sz="1000" dirty="0">
                <a:solidFill>
                  <a:srgbClr val="8B949E"/>
                </a:solidFill>
              </a:rPr>
              <a:t>Netlify: $0  (free tier)     Supabase: $0  (free tier)     OpenRouter: ~$0.02–0.05/battle  (cached, not per visitor)     Domain: ~$3/mo     Total: $50/mo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THE BUILD PLAN</a:t>
            </a:r>
            <a:endParaRPr lang="en-US" sz="1000" dirty="0"/>
          </a:p>
        </p:txBody>
      </p:sp>
      <p:sp>
        <p:nvSpPr>
          <p:cNvPr id="3" name="Text 1"/>
          <p:cNvSpPr/>
          <p:nvPr/>
        </p:nvSpPr>
        <p:spPr>
          <a:xfrm>
            <a:off x="594360" y="658368"/>
            <a:ext cx="8229600" cy="530352"/>
          </a:xfrm>
          <a:prstGeom prst="rect">
            <a:avLst/>
          </a:prstGeom>
          <a:noFill/>
          <a:ln/>
        </p:spPr>
        <p:txBody>
          <a:bodyPr wrap="square" lIns="0" tIns="0" rIns="0" bIns="0" rtlCol="0" anchor="ctr"/>
          <a:lstStyle/>
          <a:p>
            <a:pPr indent="0" marL="0">
              <a:buNone/>
            </a:pPr>
            <a:r>
              <a:rPr lang="en-US" sz="3000" b="1" dirty="0">
                <a:solidFill>
                  <a:srgbClr val="FFFFFF"/>
                </a:solidFill>
              </a:rPr>
              <a:t>MVP in weeks. Traffic in months.</a:t>
            </a:r>
            <a:endParaRPr lang="en-US" sz="3000" dirty="0"/>
          </a:p>
        </p:txBody>
      </p:sp>
      <p:sp>
        <p:nvSpPr>
          <p:cNvPr id="4" name="Shape 2"/>
          <p:cNvSpPr/>
          <p:nvPr/>
        </p:nvSpPr>
        <p:spPr>
          <a:xfrm>
            <a:off x="411480" y="1371600"/>
            <a:ext cx="2697480" cy="3611880"/>
          </a:xfrm>
          <a:prstGeom prst="roundRect">
            <a:avLst>
              <a:gd name="adj" fmla="val 3051"/>
            </a:avLst>
          </a:prstGeom>
          <a:solidFill>
            <a:srgbClr val="1C2128"/>
          </a:solidFill>
          <a:ln w="6350">
            <a:solidFill>
              <a:srgbClr val="30363D"/>
            </a:solidFill>
            <a:prstDash val="solid"/>
          </a:ln>
        </p:spPr>
      </p:sp>
      <p:sp>
        <p:nvSpPr>
          <p:cNvPr id="5" name="Text 3"/>
          <p:cNvSpPr/>
          <p:nvPr/>
        </p:nvSpPr>
        <p:spPr>
          <a:xfrm>
            <a:off x="548640" y="1463040"/>
            <a:ext cx="2423160" cy="201168"/>
          </a:xfrm>
          <a:prstGeom prst="rect">
            <a:avLst/>
          </a:prstGeom>
          <a:noFill/>
          <a:ln/>
        </p:spPr>
        <p:txBody>
          <a:bodyPr wrap="square" lIns="0" tIns="0" rIns="0" bIns="0" rtlCol="0" anchor="ctr"/>
          <a:lstStyle/>
          <a:p>
            <a:pPr indent="0" marL="0">
              <a:buNone/>
            </a:pPr>
            <a:r>
              <a:rPr lang="en-US" sz="900" b="1" dirty="0">
                <a:solidFill>
                  <a:srgbClr val="C3F73A"/>
                </a:solidFill>
              </a:rPr>
              <a:t>Weeks 1–2</a:t>
            </a:r>
            <a:endParaRPr lang="en-US" sz="900" dirty="0"/>
          </a:p>
        </p:txBody>
      </p:sp>
      <p:sp>
        <p:nvSpPr>
          <p:cNvPr id="6" name="Text 4"/>
          <p:cNvSpPr/>
          <p:nvPr/>
        </p:nvSpPr>
        <p:spPr>
          <a:xfrm>
            <a:off x="548640" y="1682496"/>
            <a:ext cx="2423160" cy="292608"/>
          </a:xfrm>
          <a:prstGeom prst="rect">
            <a:avLst/>
          </a:prstGeom>
          <a:noFill/>
          <a:ln/>
        </p:spPr>
        <p:txBody>
          <a:bodyPr wrap="square" lIns="0" tIns="0" rIns="0" bIns="0" rtlCol="0" anchor="ctr"/>
          <a:lstStyle/>
          <a:p>
            <a:pPr indent="0" marL="0">
              <a:buNone/>
            </a:pPr>
            <a:r>
              <a:rPr lang="en-US" sz="1500" b="1" dirty="0">
                <a:solidFill>
                  <a:srgbClr val="FFFFFF"/>
                </a:solidFill>
              </a:rPr>
              <a:t>MVP</a:t>
            </a:r>
            <a:endParaRPr lang="en-US" sz="1500" dirty="0"/>
          </a:p>
        </p:txBody>
      </p:sp>
      <p:sp>
        <p:nvSpPr>
          <p:cNvPr id="7" name="Shape 5"/>
          <p:cNvSpPr/>
          <p:nvPr/>
        </p:nvSpPr>
        <p:spPr>
          <a:xfrm>
            <a:off x="548640" y="2029968"/>
            <a:ext cx="2395728" cy="0"/>
          </a:xfrm>
          <a:prstGeom prst="line">
            <a:avLst/>
          </a:prstGeom>
          <a:noFill/>
          <a:ln w="6350">
            <a:solidFill>
              <a:srgbClr val="30363D"/>
            </a:solidFill>
            <a:prstDash val="solid"/>
          </a:ln>
        </p:spPr>
      </p:sp>
      <p:sp>
        <p:nvSpPr>
          <p:cNvPr id="8" name="Text 6"/>
          <p:cNvSpPr/>
          <p:nvPr/>
        </p:nvSpPr>
        <p:spPr>
          <a:xfrm>
            <a:off x="548640" y="2121408"/>
            <a:ext cx="2423160" cy="2697480"/>
          </a:xfrm>
          <a:prstGeom prst="rect">
            <a:avLst/>
          </a:prstGeom>
          <a:noFill/>
          <a:ln/>
        </p:spPr>
        <p:txBody>
          <a:bodyPr wrap="square" lIns="0" tIns="0" rIns="0" bIns="0" rtlCol="0" anchor="ctr"/>
          <a:lstStyle/>
          <a:p>
            <a:pPr marL="342900" indent="-342900">
              <a:lnSpc>
                <a:spcPct val="138000"/>
              </a:lnSpc>
              <a:spcAft>
                <a:spcPts val="200"/>
              </a:spcAft>
              <a:buSzPct val="100000"/>
              <a:buChar char="•"/>
            </a:pPr>
            <a:r>
              <a:rPr lang="en-US" sz="950" dirty="0">
                <a:solidFill>
                  <a:srgbClr val="8B949E"/>
                </a:solidFill>
              </a:rPr>
              <a:t>Homepage: 'Can you tell which AI wrote this?'</a:t>
            </a:r>
            <a:endParaRPr lang="en-US" sz="950" dirty="0"/>
          </a:p>
          <a:p>
            <a:pPr marL="342900" indent="-342900">
              <a:lnSpc>
                <a:spcPct val="138000"/>
              </a:lnSpc>
              <a:spcAft>
                <a:spcPts val="200"/>
              </a:spcAft>
              <a:buSzPct val="100000"/>
              <a:buChar char="•"/>
            </a:pPr>
            <a:r>
              <a:rPr lang="en-US" sz="950" dirty="0">
                <a:solidFill>
                  <a:srgbClr val="8B949E"/>
                </a:solidFill>
              </a:rPr>
              <a:t>Blind battle flow: vote → guess model → predict crowd → reveal</a:t>
            </a:r>
            <a:endParaRPr lang="en-US" sz="950" dirty="0"/>
          </a:p>
          <a:p>
            <a:pPr marL="342900" indent="-342900">
              <a:lnSpc>
                <a:spcPct val="138000"/>
              </a:lnSpc>
              <a:spcAft>
                <a:spcPts val="200"/>
              </a:spcAft>
              <a:buSzPct val="100000"/>
              <a:buChar char="•"/>
            </a:pPr>
            <a:r>
              <a:rPr lang="en-US" sz="950" dirty="0">
                <a:solidFill>
                  <a:srgbClr val="8B949E"/>
                </a:solidFill>
              </a:rPr>
              <a:t>5 models via OpenRouter (one API call)</a:t>
            </a:r>
            <a:endParaRPr lang="en-US" sz="950" dirty="0"/>
          </a:p>
          <a:p>
            <a:pPr marL="342900" indent="-342900">
              <a:lnSpc>
                <a:spcPct val="138000"/>
              </a:lnSpc>
              <a:spcAft>
                <a:spcPts val="200"/>
              </a:spcAft>
              <a:buSzPct val="100000"/>
              <a:buChar char="•"/>
            </a:pPr>
            <a:r>
              <a:rPr lang="en-US" sz="950" dirty="0">
                <a:solidFill>
                  <a:srgbClr val="8B949E"/>
                </a:solidFill>
              </a:rPr>
              <a:t>Supabase: battles + votes + leaderboard tables</a:t>
            </a:r>
            <a:endParaRPr lang="en-US" sz="950" dirty="0"/>
          </a:p>
          <a:p>
            <a:pPr marL="342900" indent="-342900">
              <a:lnSpc>
                <a:spcPct val="138000"/>
              </a:lnSpc>
              <a:spcAft>
                <a:spcPts val="200"/>
              </a:spcAft>
              <a:buSzPct val="100000"/>
              <a:buChar char="•"/>
            </a:pPr>
            <a:r>
              <a:rPr lang="en-US" sz="950" dirty="0">
                <a:solidFill>
                  <a:srgbClr val="8B949E"/>
                </a:solidFill>
              </a:rPr>
              <a:t>Neither / 'Both are bad' option from day one</a:t>
            </a:r>
            <a:endParaRPr lang="en-US" sz="950" dirty="0"/>
          </a:p>
          <a:p>
            <a:pPr marL="342900" indent="-342900">
              <a:lnSpc>
                <a:spcPct val="138000"/>
              </a:lnSpc>
              <a:spcAft>
                <a:spcPts val="200"/>
              </a:spcAft>
              <a:buSzPct val="100000"/>
              <a:buChar char="•"/>
            </a:pPr>
            <a:r>
              <a:rPr lang="en-US" sz="950" dirty="0">
                <a:solidFill>
                  <a:srgbClr val="8B949E"/>
                </a:solidFill>
              </a:rPr>
              <a:t>Methodology bar on every battle card</a:t>
            </a:r>
            <a:endParaRPr lang="en-US" sz="950" dirty="0"/>
          </a:p>
          <a:p>
            <a:pPr marL="342900" indent="-342900">
              <a:lnSpc>
                <a:spcPct val="138000"/>
              </a:lnSpc>
              <a:spcAft>
                <a:spcPts val="200"/>
              </a:spcAft>
              <a:buSzPct val="100000"/>
              <a:buChar char="•"/>
            </a:pPr>
            <a:r>
              <a:rPr lang="en-US" sz="950" dirty="0">
                <a:solidFill>
                  <a:srgbClr val="8B949E"/>
                </a:solidFill>
              </a:rPr>
              <a:t>Share card generated after every vote</a:t>
            </a:r>
            <a:endParaRPr lang="en-US" sz="950" dirty="0"/>
          </a:p>
          <a:p>
            <a:pPr marL="342900" indent="-342900">
              <a:lnSpc>
                <a:spcPct val="138000"/>
              </a:lnSpc>
              <a:spcAft>
                <a:spcPts val="200"/>
              </a:spcAft>
              <a:buSzPct val="100000"/>
              <a:buChar char="•"/>
            </a:pPr>
            <a:r>
              <a:rPr lang="en-US" sz="950" dirty="0">
                <a:solidFill>
                  <a:srgbClr val="8B949E"/>
                </a:solidFill>
              </a:rPr>
              <a:t>10 hand-curated battles live at launch</a:t>
            </a:r>
            <a:endParaRPr lang="en-US" sz="950" dirty="0"/>
          </a:p>
        </p:txBody>
      </p:sp>
      <p:sp>
        <p:nvSpPr>
          <p:cNvPr id="9" name="Shape 7"/>
          <p:cNvSpPr/>
          <p:nvPr/>
        </p:nvSpPr>
        <p:spPr>
          <a:xfrm>
            <a:off x="3291840" y="1371600"/>
            <a:ext cx="2697480" cy="3611880"/>
          </a:xfrm>
          <a:prstGeom prst="roundRect">
            <a:avLst>
              <a:gd name="adj" fmla="val 3051"/>
            </a:avLst>
          </a:prstGeom>
          <a:solidFill>
            <a:srgbClr val="1C2128"/>
          </a:solidFill>
          <a:ln w="6350">
            <a:solidFill>
              <a:srgbClr val="30363D"/>
            </a:solidFill>
            <a:prstDash val="solid"/>
          </a:ln>
        </p:spPr>
      </p:sp>
      <p:sp>
        <p:nvSpPr>
          <p:cNvPr id="10" name="Text 8"/>
          <p:cNvSpPr/>
          <p:nvPr/>
        </p:nvSpPr>
        <p:spPr>
          <a:xfrm>
            <a:off x="3429000" y="1463040"/>
            <a:ext cx="2423160" cy="201168"/>
          </a:xfrm>
          <a:prstGeom prst="rect">
            <a:avLst/>
          </a:prstGeom>
          <a:noFill/>
          <a:ln/>
        </p:spPr>
        <p:txBody>
          <a:bodyPr wrap="square" lIns="0" tIns="0" rIns="0" bIns="0" rtlCol="0" anchor="ctr"/>
          <a:lstStyle/>
          <a:p>
            <a:pPr indent="0" marL="0">
              <a:buNone/>
            </a:pPr>
            <a:r>
              <a:rPr lang="en-US" sz="900" b="1" dirty="0">
                <a:solidFill>
                  <a:srgbClr val="58A6FF"/>
                </a:solidFill>
              </a:rPr>
              <a:t>Month 1</a:t>
            </a:r>
            <a:endParaRPr lang="en-US" sz="900" dirty="0"/>
          </a:p>
        </p:txBody>
      </p:sp>
      <p:sp>
        <p:nvSpPr>
          <p:cNvPr id="11" name="Text 9"/>
          <p:cNvSpPr/>
          <p:nvPr/>
        </p:nvSpPr>
        <p:spPr>
          <a:xfrm>
            <a:off x="3429000" y="1682496"/>
            <a:ext cx="2423160" cy="292608"/>
          </a:xfrm>
          <a:prstGeom prst="rect">
            <a:avLst/>
          </a:prstGeom>
          <a:noFill/>
          <a:ln/>
        </p:spPr>
        <p:txBody>
          <a:bodyPr wrap="square" lIns="0" tIns="0" rIns="0" bIns="0" rtlCol="0" anchor="ctr"/>
          <a:lstStyle/>
          <a:p>
            <a:pPr indent="0" marL="0">
              <a:buNone/>
            </a:pPr>
            <a:r>
              <a:rPr lang="en-US" sz="1500" b="1" dirty="0">
                <a:solidFill>
                  <a:srgbClr val="FFFFFF"/>
                </a:solidFill>
              </a:rPr>
              <a:t>SEO engine</a:t>
            </a:r>
            <a:endParaRPr lang="en-US" sz="1500" dirty="0"/>
          </a:p>
        </p:txBody>
      </p:sp>
      <p:sp>
        <p:nvSpPr>
          <p:cNvPr id="12" name="Shape 10"/>
          <p:cNvSpPr/>
          <p:nvPr/>
        </p:nvSpPr>
        <p:spPr>
          <a:xfrm>
            <a:off x="3429000" y="2029968"/>
            <a:ext cx="2395728" cy="0"/>
          </a:xfrm>
          <a:prstGeom prst="line">
            <a:avLst/>
          </a:prstGeom>
          <a:noFill/>
          <a:ln w="6350">
            <a:solidFill>
              <a:srgbClr val="30363D"/>
            </a:solidFill>
            <a:prstDash val="solid"/>
          </a:ln>
        </p:spPr>
      </p:sp>
      <p:sp>
        <p:nvSpPr>
          <p:cNvPr id="13" name="Text 11"/>
          <p:cNvSpPr/>
          <p:nvPr/>
        </p:nvSpPr>
        <p:spPr>
          <a:xfrm>
            <a:off x="3429000" y="2121408"/>
            <a:ext cx="2423160" cy="2697480"/>
          </a:xfrm>
          <a:prstGeom prst="rect">
            <a:avLst/>
          </a:prstGeom>
          <a:noFill/>
          <a:ln/>
        </p:spPr>
        <p:txBody>
          <a:bodyPr wrap="square" lIns="0" tIns="0" rIns="0" bIns="0" rtlCol="0" anchor="ctr"/>
          <a:lstStyle/>
          <a:p>
            <a:pPr marL="342900" indent="-342900">
              <a:lnSpc>
                <a:spcPct val="138000"/>
              </a:lnSpc>
              <a:spcAft>
                <a:spcPts val="200"/>
              </a:spcAft>
              <a:buSzPct val="100000"/>
              <a:buChar char="•"/>
            </a:pPr>
            <a:r>
              <a:rPr lang="en-US" sz="950" dirty="0">
                <a:solidFill>
                  <a:srgbClr val="8B949E"/>
                </a:solidFill>
              </a:rPr>
              <a:t>Daily battle cadence (use weekly schedule)</a:t>
            </a:r>
            <a:endParaRPr lang="en-US" sz="950" dirty="0"/>
          </a:p>
          <a:p>
            <a:pPr marL="342900" indent="-342900">
              <a:lnSpc>
                <a:spcPct val="138000"/>
              </a:lnSpc>
              <a:spcAft>
                <a:spcPts val="200"/>
              </a:spcAft>
              <a:buSzPct val="100000"/>
              <a:buChar char="•"/>
            </a:pPr>
            <a:r>
              <a:rPr lang="en-US" sz="950" dirty="0">
                <a:solidFill>
                  <a:srgbClr val="8B949E"/>
                </a:solidFill>
              </a:rPr>
              <a:t>30 coding battle SEO pages</a:t>
            </a:r>
            <a:endParaRPr lang="en-US" sz="950" dirty="0"/>
          </a:p>
          <a:p>
            <a:pPr marL="342900" indent="-342900">
              <a:lnSpc>
                <a:spcPct val="138000"/>
              </a:lnSpc>
              <a:spcAft>
                <a:spcPts val="200"/>
              </a:spcAft>
              <a:buSzPct val="100000"/>
              <a:buChar char="•"/>
            </a:pPr>
            <a:r>
              <a:rPr lang="en-US" sz="950" dirty="0">
                <a:solidFill>
                  <a:srgbClr val="8B949E"/>
                </a:solidFill>
              </a:rPr>
              <a:t>20 career battle SEO pages</a:t>
            </a:r>
            <a:endParaRPr lang="en-US" sz="950" dirty="0"/>
          </a:p>
          <a:p>
            <a:pPr marL="342900" indent="-342900">
              <a:lnSpc>
                <a:spcPct val="138000"/>
              </a:lnSpc>
              <a:spcAft>
                <a:spcPts val="200"/>
              </a:spcAft>
              <a:buSzPct val="100000"/>
              <a:buChar char="•"/>
            </a:pPr>
            <a:r>
              <a:rPr lang="en-US" sz="950" dirty="0">
                <a:solidFill>
                  <a:srgbClr val="8B949E"/>
                </a:solidFill>
              </a:rPr>
              <a:t>10 writing/social pages</a:t>
            </a:r>
            <a:endParaRPr lang="en-US" sz="950" dirty="0"/>
          </a:p>
          <a:p>
            <a:pPr marL="342900" indent="-342900">
              <a:lnSpc>
                <a:spcPct val="138000"/>
              </a:lnSpc>
              <a:spcAft>
                <a:spcPts val="200"/>
              </a:spcAft>
              <a:buSzPct val="100000"/>
              <a:buChar char="•"/>
            </a:pPr>
            <a:r>
              <a:rPr lang="en-US" sz="950" dirty="0">
                <a:solidFill>
                  <a:srgbClr val="8B949E"/>
                </a:solidFill>
              </a:rPr>
              <a:t>Leaderboard: daily / weekly / monthly</a:t>
            </a:r>
            <a:endParaRPr lang="en-US" sz="950" dirty="0"/>
          </a:p>
          <a:p>
            <a:pPr marL="342900" indent="-342900">
              <a:lnSpc>
                <a:spcPct val="138000"/>
              </a:lnSpc>
              <a:spcAft>
                <a:spcPts val="200"/>
              </a:spcAft>
              <a:buSzPct val="100000"/>
              <a:buChar char="•"/>
            </a:pPr>
            <a:r>
              <a:rPr lang="en-US" sz="950" dirty="0">
                <a:solidFill>
                  <a:srgbClr val="8B949E"/>
                </a:solidFill>
              </a:rPr>
              <a:t>Affiliate links on every result page</a:t>
            </a:r>
            <a:endParaRPr lang="en-US" sz="950" dirty="0"/>
          </a:p>
          <a:p>
            <a:pPr marL="342900" indent="-342900">
              <a:lnSpc>
                <a:spcPct val="138000"/>
              </a:lnSpc>
              <a:spcAft>
                <a:spcPts val="200"/>
              </a:spcAft>
              <a:buSzPct val="100000"/>
              <a:buChar char="•"/>
            </a:pPr>
            <a:r>
              <a:rPr lang="en-US" sz="950" dirty="0">
                <a:solidFill>
                  <a:srgbClr val="8B949E"/>
                </a:solidFill>
              </a:rPr>
              <a:t>Player streak tracking (no login required, device fingerprint)</a:t>
            </a:r>
            <a:endParaRPr lang="en-US" sz="950" dirty="0"/>
          </a:p>
          <a:p>
            <a:pPr marL="342900" indent="-342900">
              <a:lnSpc>
                <a:spcPct val="138000"/>
              </a:lnSpc>
              <a:spcAft>
                <a:spcPts val="200"/>
              </a:spcAft>
              <a:buSzPct val="100000"/>
              <a:buChar char="•"/>
            </a:pPr>
            <a:r>
              <a:rPr lang="en-US" sz="950" dirty="0">
                <a:solidFill>
                  <a:srgbClr val="8B949E"/>
                </a:solidFill>
              </a:rPr>
              <a:t>Player titles system</a:t>
            </a:r>
            <a:endParaRPr lang="en-US" sz="950" dirty="0"/>
          </a:p>
        </p:txBody>
      </p:sp>
      <p:sp>
        <p:nvSpPr>
          <p:cNvPr id="14" name="Shape 12"/>
          <p:cNvSpPr/>
          <p:nvPr/>
        </p:nvSpPr>
        <p:spPr>
          <a:xfrm>
            <a:off x="6172200" y="1371600"/>
            <a:ext cx="2697480" cy="3611880"/>
          </a:xfrm>
          <a:prstGeom prst="roundRect">
            <a:avLst>
              <a:gd name="adj" fmla="val 3051"/>
            </a:avLst>
          </a:prstGeom>
          <a:solidFill>
            <a:srgbClr val="1C2128"/>
          </a:solidFill>
          <a:ln w="6350">
            <a:solidFill>
              <a:srgbClr val="30363D"/>
            </a:solidFill>
            <a:prstDash val="solid"/>
          </a:ln>
        </p:spPr>
      </p:sp>
      <p:sp>
        <p:nvSpPr>
          <p:cNvPr id="15" name="Text 13"/>
          <p:cNvSpPr/>
          <p:nvPr/>
        </p:nvSpPr>
        <p:spPr>
          <a:xfrm>
            <a:off x="6309360" y="1463040"/>
            <a:ext cx="2423160" cy="201168"/>
          </a:xfrm>
          <a:prstGeom prst="rect">
            <a:avLst/>
          </a:prstGeom>
          <a:noFill/>
          <a:ln/>
        </p:spPr>
        <p:txBody>
          <a:bodyPr wrap="square" lIns="0" tIns="0" rIns="0" bIns="0" rtlCol="0" anchor="ctr"/>
          <a:lstStyle/>
          <a:p>
            <a:pPr indent="0" marL="0">
              <a:buNone/>
            </a:pPr>
            <a:r>
              <a:rPr lang="en-US" sz="900" b="1" dirty="0">
                <a:solidFill>
                  <a:srgbClr val="D2A8FF"/>
                </a:solidFill>
              </a:rPr>
              <a:t>Month 3</a:t>
            </a:r>
            <a:endParaRPr lang="en-US" sz="900" dirty="0"/>
          </a:p>
        </p:txBody>
      </p:sp>
      <p:sp>
        <p:nvSpPr>
          <p:cNvPr id="16" name="Text 14"/>
          <p:cNvSpPr/>
          <p:nvPr/>
        </p:nvSpPr>
        <p:spPr>
          <a:xfrm>
            <a:off x="6309360" y="1682496"/>
            <a:ext cx="2423160" cy="292608"/>
          </a:xfrm>
          <a:prstGeom prst="rect">
            <a:avLst/>
          </a:prstGeom>
          <a:noFill/>
          <a:ln/>
        </p:spPr>
        <p:txBody>
          <a:bodyPr wrap="square" lIns="0" tIns="0" rIns="0" bIns="0" rtlCol="0" anchor="ctr"/>
          <a:lstStyle/>
          <a:p>
            <a:pPr indent="0" marL="0">
              <a:buNone/>
            </a:pPr>
            <a:r>
              <a:rPr lang="en-US" sz="1500" b="1" dirty="0">
                <a:solidFill>
                  <a:srgbClr val="FFFFFF"/>
                </a:solidFill>
              </a:rPr>
              <a:t>Community loop</a:t>
            </a:r>
            <a:endParaRPr lang="en-US" sz="1500" dirty="0"/>
          </a:p>
        </p:txBody>
      </p:sp>
      <p:sp>
        <p:nvSpPr>
          <p:cNvPr id="17" name="Shape 15"/>
          <p:cNvSpPr/>
          <p:nvPr/>
        </p:nvSpPr>
        <p:spPr>
          <a:xfrm>
            <a:off x="6309360" y="2029968"/>
            <a:ext cx="2395728" cy="0"/>
          </a:xfrm>
          <a:prstGeom prst="line">
            <a:avLst/>
          </a:prstGeom>
          <a:noFill/>
          <a:ln w="6350">
            <a:solidFill>
              <a:srgbClr val="30363D"/>
            </a:solidFill>
            <a:prstDash val="solid"/>
          </a:ln>
        </p:spPr>
      </p:sp>
      <p:sp>
        <p:nvSpPr>
          <p:cNvPr id="18" name="Text 16"/>
          <p:cNvSpPr/>
          <p:nvPr/>
        </p:nvSpPr>
        <p:spPr>
          <a:xfrm>
            <a:off x="6309360" y="2121408"/>
            <a:ext cx="2423160" cy="2697480"/>
          </a:xfrm>
          <a:prstGeom prst="rect">
            <a:avLst/>
          </a:prstGeom>
          <a:noFill/>
          <a:ln/>
        </p:spPr>
        <p:txBody>
          <a:bodyPr wrap="square" lIns="0" tIns="0" rIns="0" bIns="0" rtlCol="0" anchor="ctr"/>
          <a:lstStyle/>
          <a:p>
            <a:pPr marL="342900" indent="-342900">
              <a:lnSpc>
                <a:spcPct val="138000"/>
              </a:lnSpc>
              <a:spcAft>
                <a:spcPts val="200"/>
              </a:spcAft>
              <a:buSzPct val="100000"/>
              <a:buChar char="•"/>
            </a:pPr>
            <a:r>
              <a:rPr lang="en-US" sz="950" dirty="0">
                <a:solidFill>
                  <a:srgbClr val="8B949E"/>
                </a:solidFill>
              </a:rPr>
              <a:t>User-submitted battles (3 tiers: private / link-share / featured+indexed)</a:t>
            </a:r>
            <a:endParaRPr lang="en-US" sz="950" dirty="0"/>
          </a:p>
          <a:p>
            <a:pPr marL="342900" indent="-342900">
              <a:lnSpc>
                <a:spcPct val="138000"/>
              </a:lnSpc>
              <a:spcAft>
                <a:spcPts val="200"/>
              </a:spcAft>
              <a:buSzPct val="100000"/>
              <a:buChar char="•"/>
            </a:pPr>
            <a:r>
              <a:rPr lang="en-US" sz="950" dirty="0">
                <a:solidFill>
                  <a:srgbClr val="8B949E"/>
                </a:solidFill>
              </a:rPr>
              <a:t>'Both bad' data published as weekly insights</a:t>
            </a:r>
            <a:endParaRPr lang="en-US" sz="950" dirty="0"/>
          </a:p>
          <a:p>
            <a:pPr marL="342900" indent="-342900">
              <a:lnSpc>
                <a:spcPct val="138000"/>
              </a:lnSpc>
              <a:spcAft>
                <a:spcPts val="200"/>
              </a:spcAft>
              <a:buSzPct val="100000"/>
              <a:buChar char="•"/>
            </a:pPr>
            <a:r>
              <a:rPr lang="en-US" sz="950" dirty="0">
                <a:solidFill>
                  <a:srgbClr val="8B949E"/>
                </a:solidFill>
              </a:rPr>
              <a:t>'AI Rankings Changed This Week' newsletter</a:t>
            </a:r>
            <a:endParaRPr lang="en-US" sz="950" dirty="0"/>
          </a:p>
          <a:p>
            <a:pPr marL="342900" indent="-342900">
              <a:lnSpc>
                <a:spcPct val="138000"/>
              </a:lnSpc>
              <a:spcAft>
                <a:spcPts val="200"/>
              </a:spcAft>
              <a:buSzPct val="100000"/>
              <a:buChar char="•"/>
            </a:pPr>
            <a:r>
              <a:rPr lang="en-US" sz="950" dirty="0">
                <a:solidFill>
                  <a:srgbClr val="8B949E"/>
                </a:solidFill>
              </a:rPr>
              <a:t>First press pitch: crowd data vs benchmarks</a:t>
            </a:r>
            <a:endParaRPr lang="en-US" sz="950" dirty="0"/>
          </a:p>
          <a:p>
            <a:pPr marL="342900" indent="-342900">
              <a:lnSpc>
                <a:spcPct val="138000"/>
              </a:lnSpc>
              <a:spcAft>
                <a:spcPts val="200"/>
              </a:spcAft>
              <a:buSzPct val="100000"/>
              <a:buChar char="•"/>
            </a:pPr>
            <a:r>
              <a:rPr lang="en-US" sz="950" dirty="0">
                <a:solidFill>
                  <a:srgbClr val="8B949E"/>
                </a:solidFill>
              </a:rPr>
              <a:t>Weekly championship battle</a:t>
            </a:r>
            <a:endParaRPr lang="en-US" sz="950" dirty="0"/>
          </a:p>
          <a:p>
            <a:pPr marL="342900" indent="-342900">
              <a:lnSpc>
                <a:spcPct val="138000"/>
              </a:lnSpc>
              <a:spcAft>
                <a:spcPts val="200"/>
              </a:spcAft>
              <a:buSzPct val="100000"/>
              <a:buChar char="•"/>
            </a:pPr>
            <a:r>
              <a:rPr lang="en-US" sz="950" dirty="0">
                <a:solidFill>
                  <a:srgbClr val="8B949E"/>
                </a:solidFill>
              </a:rPr>
              <a:t>Full leaderboard with player rankings</a:t>
            </a:r>
            <a:endParaRPr lang="en-US" sz="950" dirty="0"/>
          </a:p>
        </p:txBody>
      </p:sp>
      <p:sp>
        <p:nvSpPr>
          <p:cNvPr id="19" name="Text 17"/>
          <p:cNvSpPr/>
          <p:nvPr/>
        </p:nvSpPr>
        <p:spPr>
          <a:xfrm>
            <a:off x="594360" y="5029200"/>
            <a:ext cx="8046720" cy="201168"/>
          </a:xfrm>
          <a:prstGeom prst="rect">
            <a:avLst/>
          </a:prstGeom>
          <a:noFill/>
          <a:ln/>
        </p:spPr>
        <p:txBody>
          <a:bodyPr wrap="square" lIns="0" tIns="0" rIns="0" bIns="0" rtlCol="0" anchor="ctr"/>
          <a:lstStyle/>
          <a:p>
            <a:pPr indent="0" marL="0">
              <a:buNone/>
            </a:pPr>
            <a:r>
              <a:rPr lang="en-US" sz="950" dirty="0">
                <a:solidFill>
                  <a:srgbClr val="6E7681"/>
                </a:solidFill>
              </a:rPr>
              <a:t>Month 6 target: 50k–150k monthly visits · 5k+ email subscribers · affiliate covering costs · first sponsored battle conversation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7132320" y="3200400"/>
            <a:ext cx="3200400" cy="3200400"/>
          </a:xfrm>
          <a:prstGeom prst="ellipse">
            <a:avLst/>
          </a:prstGeom>
          <a:solidFill>
            <a:srgbClr val="C3F73A">
              <a:alpha val="8000"/>
            </a:srgbClr>
          </a:solidFill>
          <a:ln w="12700">
            <a:solidFill>
              <a:srgbClr val="C3F73A">
                <a:alpha val="25000"/>
              </a:srgbClr>
            </a:solidFill>
            <a:prstDash val="solid"/>
          </a:ln>
        </p:spPr>
      </p:sp>
      <p:sp>
        <p:nvSpPr>
          <p:cNvPr id="3" name="Text 1"/>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CURSOR BUILD BRIEF</a:t>
            </a:r>
            <a:endParaRPr lang="en-US" sz="1000" dirty="0"/>
          </a:p>
        </p:txBody>
      </p:sp>
      <p:sp>
        <p:nvSpPr>
          <p:cNvPr id="4" name="Text 2"/>
          <p:cNvSpPr/>
          <p:nvPr/>
        </p:nvSpPr>
        <p:spPr>
          <a:xfrm>
            <a:off x="594360" y="658368"/>
            <a:ext cx="6858000" cy="109728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Feed this to Cursor.</a:t>
            </a:r>
            <a:endParaRPr lang="en-US" sz="3200" dirty="0"/>
          </a:p>
          <a:p>
            <a:pPr indent="0" marL="0">
              <a:lnSpc>
                <a:spcPct val="120000"/>
              </a:lnSpc>
              <a:buNone/>
            </a:pPr>
            <a:r>
              <a:rPr lang="en-US" sz="3200" b="1" dirty="0">
                <a:solidFill>
                  <a:srgbClr val="FFFFFF"/>
                </a:solidFill>
              </a:rPr>
              <a:t>Everything it needs to build.</a:t>
            </a:r>
            <a:endParaRPr lang="en-US" sz="3200" dirty="0"/>
          </a:p>
        </p:txBody>
      </p:sp>
      <p:sp>
        <p:nvSpPr>
          <p:cNvPr id="5" name="Text 3"/>
          <p:cNvSpPr/>
          <p:nvPr/>
        </p:nvSpPr>
        <p:spPr>
          <a:xfrm>
            <a:off x="502920" y="190195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Stack:  </a:t>
            </a:r>
            <a:endParaRPr lang="en-US" sz="1100" dirty="0"/>
          </a:p>
        </p:txBody>
      </p:sp>
      <p:sp>
        <p:nvSpPr>
          <p:cNvPr id="6" name="Text 4"/>
          <p:cNvSpPr/>
          <p:nvPr/>
        </p:nvSpPr>
        <p:spPr>
          <a:xfrm>
            <a:off x="1600200" y="190195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Svelte 5 · Supabase · Netlify · OpenRouter API</a:t>
            </a:r>
            <a:endParaRPr lang="en-US" sz="1000" dirty="0"/>
          </a:p>
        </p:txBody>
      </p:sp>
      <p:sp>
        <p:nvSpPr>
          <p:cNvPr id="7" name="Shape 5"/>
          <p:cNvSpPr/>
          <p:nvPr/>
        </p:nvSpPr>
        <p:spPr>
          <a:xfrm>
            <a:off x="502920" y="2560320"/>
            <a:ext cx="3977640" cy="0"/>
          </a:xfrm>
          <a:prstGeom prst="line">
            <a:avLst/>
          </a:prstGeom>
          <a:noFill/>
          <a:ln w="3810">
            <a:solidFill>
              <a:srgbClr val="30363D"/>
            </a:solidFill>
            <a:prstDash val="solid"/>
          </a:ln>
        </p:spPr>
      </p:sp>
      <p:sp>
        <p:nvSpPr>
          <p:cNvPr id="8" name="Text 6"/>
          <p:cNvSpPr/>
          <p:nvPr/>
        </p:nvSpPr>
        <p:spPr>
          <a:xfrm>
            <a:off x="4800600" y="190195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Domain:  </a:t>
            </a:r>
            <a:endParaRPr lang="en-US" sz="1100" dirty="0"/>
          </a:p>
        </p:txBody>
      </p:sp>
      <p:sp>
        <p:nvSpPr>
          <p:cNvPr id="9" name="Text 7"/>
          <p:cNvSpPr/>
          <p:nvPr/>
        </p:nvSpPr>
        <p:spPr>
          <a:xfrm>
            <a:off x="5897880" y="190195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guessthemodel.com</a:t>
            </a:r>
            <a:endParaRPr lang="en-US" sz="1000" dirty="0"/>
          </a:p>
        </p:txBody>
      </p:sp>
      <p:sp>
        <p:nvSpPr>
          <p:cNvPr id="10" name="Shape 8"/>
          <p:cNvSpPr/>
          <p:nvPr/>
        </p:nvSpPr>
        <p:spPr>
          <a:xfrm>
            <a:off x="4800600" y="2560320"/>
            <a:ext cx="3977640" cy="0"/>
          </a:xfrm>
          <a:prstGeom prst="line">
            <a:avLst/>
          </a:prstGeom>
          <a:noFill/>
          <a:ln w="3810">
            <a:solidFill>
              <a:srgbClr val="30363D"/>
            </a:solidFill>
            <a:prstDash val="solid"/>
          </a:ln>
        </p:spPr>
      </p:sp>
      <p:sp>
        <p:nvSpPr>
          <p:cNvPr id="11" name="Text 9"/>
          <p:cNvSpPr/>
          <p:nvPr/>
        </p:nvSpPr>
        <p:spPr>
          <a:xfrm>
            <a:off x="502920" y="263347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Colors:  </a:t>
            </a:r>
            <a:endParaRPr lang="en-US" sz="1100" dirty="0"/>
          </a:p>
        </p:txBody>
      </p:sp>
      <p:sp>
        <p:nvSpPr>
          <p:cNvPr id="12" name="Text 10"/>
          <p:cNvSpPr/>
          <p:nvPr/>
        </p:nvSpPr>
        <p:spPr>
          <a:xfrm>
            <a:off x="1600200" y="263347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Navy #0D1117 · Card #1C2128 · Lime accent #C3F73A · White #FFFFFF · Muted #8B949E · Green #3FB950 · Red #F85149 · Border #30363D</a:t>
            </a:r>
            <a:endParaRPr lang="en-US" sz="1000" dirty="0"/>
          </a:p>
        </p:txBody>
      </p:sp>
      <p:sp>
        <p:nvSpPr>
          <p:cNvPr id="13" name="Shape 11"/>
          <p:cNvSpPr/>
          <p:nvPr/>
        </p:nvSpPr>
        <p:spPr>
          <a:xfrm>
            <a:off x="502920" y="3291840"/>
            <a:ext cx="3977640" cy="0"/>
          </a:xfrm>
          <a:prstGeom prst="line">
            <a:avLst/>
          </a:prstGeom>
          <a:noFill/>
          <a:ln w="3810">
            <a:solidFill>
              <a:srgbClr val="30363D"/>
            </a:solidFill>
            <a:prstDash val="solid"/>
          </a:ln>
        </p:spPr>
      </p:sp>
      <p:sp>
        <p:nvSpPr>
          <p:cNvPr id="14" name="Text 12"/>
          <p:cNvSpPr/>
          <p:nvPr/>
        </p:nvSpPr>
        <p:spPr>
          <a:xfrm>
            <a:off x="4800600" y="263347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Core tables:  </a:t>
            </a:r>
            <a:endParaRPr lang="en-US" sz="1100" dirty="0"/>
          </a:p>
        </p:txBody>
      </p:sp>
      <p:sp>
        <p:nvSpPr>
          <p:cNvPr id="15" name="Text 13"/>
          <p:cNvSpPr/>
          <p:nvPr/>
        </p:nvSpPr>
        <p:spPr>
          <a:xfrm>
            <a:off x="5897880" y="263347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battles(id, prompt, outputs[], category, created_at) · votes(id, battle_id, choice, model_guess, crowd_prediction, fingerprint, created_at)</a:t>
            </a:r>
            <a:endParaRPr lang="en-US" sz="1000" dirty="0"/>
          </a:p>
        </p:txBody>
      </p:sp>
      <p:sp>
        <p:nvSpPr>
          <p:cNvPr id="16" name="Shape 14"/>
          <p:cNvSpPr/>
          <p:nvPr/>
        </p:nvSpPr>
        <p:spPr>
          <a:xfrm>
            <a:off x="4800600" y="3291840"/>
            <a:ext cx="3977640" cy="0"/>
          </a:xfrm>
          <a:prstGeom prst="line">
            <a:avLst/>
          </a:prstGeom>
          <a:noFill/>
          <a:ln w="3810">
            <a:solidFill>
              <a:srgbClr val="30363D"/>
            </a:solidFill>
            <a:prstDash val="solid"/>
          </a:ln>
        </p:spPr>
      </p:sp>
      <p:sp>
        <p:nvSpPr>
          <p:cNvPr id="17" name="Text 15"/>
          <p:cNvSpPr/>
          <p:nvPr/>
        </p:nvSpPr>
        <p:spPr>
          <a:xfrm>
            <a:off x="502920" y="336499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Homepage:  </a:t>
            </a:r>
            <a:endParaRPr lang="en-US" sz="1100" dirty="0"/>
          </a:p>
        </p:txBody>
      </p:sp>
      <p:sp>
        <p:nvSpPr>
          <p:cNvPr id="18" name="Text 16"/>
          <p:cNvSpPr/>
          <p:nvPr/>
        </p:nvSpPr>
        <p:spPr>
          <a:xfrm>
            <a:off x="1600200" y="336499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'Can you tell which AI wrote this?' · Today's battle card · Stats (votes cast, battles run, models tested) · Category nav tabs</a:t>
            </a:r>
            <a:endParaRPr lang="en-US" sz="1000" dirty="0"/>
          </a:p>
        </p:txBody>
      </p:sp>
      <p:sp>
        <p:nvSpPr>
          <p:cNvPr id="19" name="Shape 17"/>
          <p:cNvSpPr/>
          <p:nvPr/>
        </p:nvSpPr>
        <p:spPr>
          <a:xfrm>
            <a:off x="502920" y="4023360"/>
            <a:ext cx="3977640" cy="0"/>
          </a:xfrm>
          <a:prstGeom prst="line">
            <a:avLst/>
          </a:prstGeom>
          <a:noFill/>
          <a:ln w="3810">
            <a:solidFill>
              <a:srgbClr val="30363D"/>
            </a:solidFill>
            <a:prstDash val="solid"/>
          </a:ln>
        </p:spPr>
      </p:sp>
      <p:sp>
        <p:nvSpPr>
          <p:cNvPr id="20" name="Text 18"/>
          <p:cNvSpPr/>
          <p:nvPr/>
        </p:nvSpPr>
        <p:spPr>
          <a:xfrm>
            <a:off x="4800600" y="336499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Battle flow:  </a:t>
            </a:r>
            <a:endParaRPr lang="en-US" sz="1100" dirty="0"/>
          </a:p>
        </p:txBody>
      </p:sp>
      <p:sp>
        <p:nvSpPr>
          <p:cNvPr id="21" name="Text 19"/>
          <p:cNvSpPr/>
          <p:nvPr/>
        </p:nvSpPr>
        <p:spPr>
          <a:xfrm>
            <a:off x="5897880" y="336499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1. Show prompt + Model A/B (no names) · 2. Vote: A / B / Both are bad · 3. Guess: which model wrote your pick? · 4. Predict: who will the crowd pick? · 5. Reveal: names + vote percentages + your scores · 6. Share card generated</a:t>
            </a:r>
            <a:endParaRPr lang="en-US" sz="1000" dirty="0"/>
          </a:p>
        </p:txBody>
      </p:sp>
      <p:sp>
        <p:nvSpPr>
          <p:cNvPr id="22" name="Shape 20"/>
          <p:cNvSpPr/>
          <p:nvPr/>
        </p:nvSpPr>
        <p:spPr>
          <a:xfrm>
            <a:off x="4800600" y="4023360"/>
            <a:ext cx="3977640" cy="0"/>
          </a:xfrm>
          <a:prstGeom prst="line">
            <a:avLst/>
          </a:prstGeom>
          <a:noFill/>
          <a:ln w="3810">
            <a:solidFill>
              <a:srgbClr val="30363D"/>
            </a:solidFill>
            <a:prstDash val="solid"/>
          </a:ln>
        </p:spPr>
      </p:sp>
      <p:sp>
        <p:nvSpPr>
          <p:cNvPr id="23" name="Text 21"/>
          <p:cNvSpPr/>
          <p:nvPr/>
        </p:nvSpPr>
        <p:spPr>
          <a:xfrm>
            <a:off x="502920" y="409651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Methodology bar:  </a:t>
            </a:r>
            <a:endParaRPr lang="en-US" sz="1100" dirty="0"/>
          </a:p>
        </p:txBody>
      </p:sp>
      <p:sp>
        <p:nvSpPr>
          <p:cNvPr id="24" name="Text 22"/>
          <p:cNvSpPr/>
          <p:nvPr/>
        </p:nvSpPr>
        <p:spPr>
          <a:xfrm>
            <a:off x="1600200" y="409651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Shown on every card: same prompt · same temp 0.7 · same max 200 words · position randomised</a:t>
            </a:r>
            <a:endParaRPr lang="en-US" sz="1000" dirty="0"/>
          </a:p>
        </p:txBody>
      </p:sp>
      <p:sp>
        <p:nvSpPr>
          <p:cNvPr id="25" name="Text 23"/>
          <p:cNvSpPr/>
          <p:nvPr/>
        </p:nvSpPr>
        <p:spPr>
          <a:xfrm>
            <a:off x="4800600" y="4096512"/>
            <a:ext cx="1097280" cy="256032"/>
          </a:xfrm>
          <a:prstGeom prst="rect">
            <a:avLst/>
          </a:prstGeom>
          <a:noFill/>
          <a:ln/>
        </p:spPr>
        <p:txBody>
          <a:bodyPr wrap="square" lIns="0" tIns="0" rIns="0" bIns="0" rtlCol="0" anchor="ctr"/>
          <a:lstStyle/>
          <a:p>
            <a:pPr indent="0" marL="0">
              <a:buNone/>
            </a:pPr>
            <a:r>
              <a:rPr lang="en-US" sz="1100" b="1" dirty="0">
                <a:solidFill>
                  <a:srgbClr val="C3F73A"/>
                </a:solidFill>
              </a:rPr>
              <a:t>Leaderboard:  </a:t>
            </a:r>
            <a:endParaRPr lang="en-US" sz="1100" dirty="0"/>
          </a:p>
        </p:txBody>
      </p:sp>
      <p:sp>
        <p:nvSpPr>
          <p:cNvPr id="26" name="Text 24"/>
          <p:cNvSpPr/>
          <p:nvPr/>
        </p:nvSpPr>
        <p:spPr>
          <a:xfrm>
            <a:off x="5897880" y="4096512"/>
            <a:ext cx="3017520" cy="594360"/>
          </a:xfrm>
          <a:prstGeom prst="rect">
            <a:avLst/>
          </a:prstGeom>
          <a:noFill/>
          <a:ln/>
        </p:spPr>
        <p:txBody>
          <a:bodyPr wrap="square" lIns="0" tIns="0" rIns="0" bIns="0" rtlCol="0" anchor="ctr"/>
          <a:lstStyle/>
          <a:p>
            <a:pPr indent="0" marL="0">
              <a:lnSpc>
                <a:spcPct val="130000"/>
              </a:lnSpc>
              <a:buNone/>
            </a:pPr>
            <a:r>
              <a:rPr lang="en-US" sz="1000" dirty="0">
                <a:solidFill>
                  <a:srgbClr val="8B949E"/>
                </a:solidFill>
              </a:rPr>
              <a:t>Daily / weekly / monthly tabs · Model win counts · Player streaks (fingerprint-based, no login required)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C3F73A">
              <a:alpha val="8000"/>
            </a:srgbClr>
          </a:solidFill>
          <a:ln w="12700">
            <a:solidFill>
              <a:srgbClr val="C3F73A">
                <a:alpha val="25000"/>
              </a:srgbClr>
            </a:solidFill>
            <a:prstDash val="solid"/>
          </a:ln>
        </p:spPr>
      </p:sp>
      <p:sp>
        <p:nvSpPr>
          <p:cNvPr id="3" name="Shape 1"/>
          <p:cNvSpPr/>
          <p:nvPr/>
        </p:nvSpPr>
        <p:spPr>
          <a:xfrm>
            <a:off x="7498080" y="-914400"/>
            <a:ext cx="2560320" cy="2560320"/>
          </a:xfrm>
          <a:prstGeom prst="ellipse">
            <a:avLst/>
          </a:prstGeom>
          <a:solidFill>
            <a:srgbClr val="C3F73A">
              <a:alpha val="10000"/>
            </a:srgbClr>
          </a:solidFill>
          <a:ln w="12700">
            <a:solidFill>
              <a:srgbClr val="C3F73A">
                <a:alpha val="28000"/>
              </a:srgbClr>
            </a:solidFill>
            <a:prstDash val="solid"/>
          </a:ln>
        </p:spPr>
      </p:sp>
      <p:sp>
        <p:nvSpPr>
          <p:cNvPr id="4" name="Text 2"/>
          <p:cNvSpPr/>
          <p:nvPr/>
        </p:nvSpPr>
        <p:spPr>
          <a:xfrm>
            <a:off x="594360" y="347472"/>
            <a:ext cx="7315200" cy="256032"/>
          </a:xfrm>
          <a:prstGeom prst="rect">
            <a:avLst/>
          </a:prstGeom>
          <a:noFill/>
          <a:ln/>
        </p:spPr>
        <p:txBody>
          <a:bodyPr wrap="square" lIns="0" tIns="0" rIns="0" bIns="0" rtlCol="0" anchor="ctr"/>
          <a:lstStyle/>
          <a:p>
            <a:pPr indent="0" marL="0">
              <a:buNone/>
            </a:pPr>
            <a:r>
              <a:rPr lang="en-US" sz="1000" b="1" spc="400" kern="0" dirty="0">
                <a:solidFill>
                  <a:srgbClr val="C3F73A"/>
                </a:solidFill>
              </a:rPr>
              <a:t>HELP REFINE THIS</a:t>
            </a:r>
            <a:endParaRPr lang="en-US" sz="1000" dirty="0"/>
          </a:p>
        </p:txBody>
      </p:sp>
      <p:sp>
        <p:nvSpPr>
          <p:cNvPr id="5" name="Text 3"/>
          <p:cNvSpPr/>
          <p:nvPr/>
        </p:nvSpPr>
        <p:spPr>
          <a:xfrm>
            <a:off x="594360" y="658368"/>
            <a:ext cx="7772400" cy="658368"/>
          </a:xfrm>
          <a:prstGeom prst="rect">
            <a:avLst/>
          </a:prstGeom>
          <a:noFill/>
          <a:ln/>
        </p:spPr>
        <p:txBody>
          <a:bodyPr wrap="square" lIns="0" tIns="0" rIns="0" bIns="0" rtlCol="0" anchor="ctr"/>
          <a:lstStyle/>
          <a:p>
            <a:pPr indent="0" marL="0">
              <a:buNone/>
            </a:pPr>
            <a:r>
              <a:rPr lang="en-US" sz="3600" b="1" dirty="0">
                <a:solidFill>
                  <a:srgbClr val="FFFFFF"/>
                </a:solidFill>
              </a:rPr>
              <a:t>What would you change?</a:t>
            </a:r>
            <a:endParaRPr lang="en-US" sz="3600" dirty="0"/>
          </a:p>
        </p:txBody>
      </p:sp>
      <p:sp>
        <p:nvSpPr>
          <p:cNvPr id="6" name="Text 4"/>
          <p:cNvSpPr/>
          <p:nvPr/>
        </p:nvSpPr>
        <p:spPr>
          <a:xfrm>
            <a:off x="1280160" y="1463040"/>
            <a:ext cx="7223760" cy="3291840"/>
          </a:xfrm>
          <a:prstGeom prst="rect">
            <a:avLst/>
          </a:prstGeom>
          <a:noFill/>
          <a:ln/>
        </p:spPr>
        <p:txBody>
          <a:bodyPr wrap="square" lIns="0" tIns="0" rIns="0" bIns="0" rtlCol="0" anchor="ctr"/>
          <a:lstStyle/>
          <a:p>
            <a:pPr indent="0" marL="0">
              <a:lnSpc>
                <a:spcPct val="155000"/>
              </a:lnSpc>
              <a:spcAft>
                <a:spcPts val="400"/>
              </a:spcAft>
              <a:buNone/>
            </a:pPr>
            <a:r>
              <a:rPr lang="en-US" sz="1200" dirty="0">
                <a:solidFill>
                  <a:srgbClr val="FFFFFF"/>
                </a:solidFill>
              </a:rPr>
              <a:t>1.  Is the 3-step game loop (vote → guess model → predict crowd) addictive enough to build a daily habit?</a:t>
            </a:r>
            <a:endParaRPr lang="en-US" sz="1200" dirty="0"/>
          </a:p>
          <a:p>
            <a:pPr indent="0" marL="0">
              <a:lnSpc>
                <a:spcPct val="155000"/>
              </a:lnSpc>
              <a:spcAft>
                <a:spcPts val="400"/>
              </a:spcAft>
              <a:buNone/>
            </a:pPr>
            <a:r>
              <a:rPr lang="en-US" sz="1200" dirty="0">
                <a:solidFill>
                  <a:srgbClr val="8B949E"/>
                </a:solidFill>
              </a:rPr>
              <a:t>2.  Which launch category — coding, career, or social/writing — gives the fastest path to real organic traffic?</a:t>
            </a:r>
            <a:endParaRPr lang="en-US" sz="1200" dirty="0"/>
          </a:p>
          <a:p>
            <a:pPr indent="0" marL="0">
              <a:lnSpc>
                <a:spcPct val="155000"/>
              </a:lnSpc>
              <a:spcAft>
                <a:spcPts val="400"/>
              </a:spcAft>
              <a:buNone/>
            </a:pPr>
            <a:r>
              <a:rPr lang="en-US" sz="1200" dirty="0">
                <a:solidFill>
                  <a:srgbClr val="8B949E"/>
                </a:solidFill>
              </a:rPr>
              <a:t>3.  Does 'Both are bad' improve data quality or give people an easy out that kills the forced-choice tension?</a:t>
            </a:r>
            <a:endParaRPr lang="en-US" sz="1200" dirty="0"/>
          </a:p>
          <a:p>
            <a:pPr indent="0" marL="0">
              <a:lnSpc>
                <a:spcPct val="155000"/>
              </a:lnSpc>
              <a:spcAft>
                <a:spcPts val="400"/>
              </a:spcAft>
              <a:buNone/>
            </a:pPr>
            <a:r>
              <a:rPr lang="en-US" sz="1200" dirty="0">
                <a:solidFill>
                  <a:srgbClr val="8B949E"/>
                </a:solidFill>
              </a:rPr>
              <a:t>4.  The secret model testing angle (like Arena did with GPT-5 as 'summit') — realistic future B2B, or too early to think about?</a:t>
            </a:r>
            <a:endParaRPr lang="en-US" sz="1200" dirty="0"/>
          </a:p>
          <a:p>
            <a:pPr indent="0" marL="0">
              <a:lnSpc>
                <a:spcPct val="155000"/>
              </a:lnSpc>
              <a:spcAft>
                <a:spcPts val="400"/>
              </a:spcAft>
              <a:buNone/>
            </a:pPr>
            <a:r>
              <a:rPr lang="en-US" sz="1200" dirty="0">
                <a:solidFill>
                  <a:srgbClr val="8B949E"/>
                </a:solidFill>
              </a:rPr>
              <a:t>5.  Player titles (Model Sniper, Bias Breaker, Claude Loyalist) — fun and shareable, or gimmicky?</a:t>
            </a:r>
            <a:endParaRPr lang="en-US" sz="1200" dirty="0"/>
          </a:p>
          <a:p>
            <a:pPr indent="0" marL="0">
              <a:lnSpc>
                <a:spcPct val="155000"/>
              </a:lnSpc>
              <a:spcAft>
                <a:spcPts val="400"/>
              </a:spcAft>
              <a:buNone/>
            </a:pPr>
            <a:r>
              <a:rPr lang="en-US" sz="1200" dirty="0">
                <a:solidFill>
                  <a:srgbClr val="8B949E"/>
                </a:solidFill>
              </a:rPr>
              <a:t>6.  What would actually make you share a battle result to someone else?</a:t>
            </a:r>
            <a:endParaRPr lang="en-US" sz="1200" dirty="0"/>
          </a:p>
          <a:p>
            <a:pPr indent="0" marL="0">
              <a:lnSpc>
                <a:spcPct val="155000"/>
              </a:lnSpc>
              <a:spcAft>
                <a:spcPts val="400"/>
              </a:spcAft>
              <a:buNone/>
            </a:pPr>
            <a:r>
              <a:rPr lang="en-US" sz="1200" dirty="0">
                <a:solidFill>
                  <a:srgbClr val="8B949E"/>
                </a:solidFill>
              </a:rPr>
              <a:t>7.  What's the first thing you'd build that isn't on this list?</a:t>
            </a:r>
            <a:endParaRPr lang="en-US" sz="1200" dirty="0"/>
          </a:p>
        </p:txBody>
      </p:sp>
      <p:sp>
        <p:nvSpPr>
          <p:cNvPr id="7" name="Shape 5"/>
          <p:cNvSpPr/>
          <p:nvPr/>
        </p:nvSpPr>
        <p:spPr>
          <a:xfrm>
            <a:off x="594360" y="4736592"/>
            <a:ext cx="8138160" cy="320040"/>
          </a:xfrm>
          <a:prstGeom prst="roundRect">
            <a:avLst>
              <a:gd name="adj" fmla="val 17143"/>
            </a:avLst>
          </a:prstGeom>
          <a:solidFill>
            <a:srgbClr val="1C2128"/>
          </a:solidFill>
          <a:ln w="6350">
            <a:solidFill>
              <a:srgbClr val="30363D"/>
            </a:solidFill>
            <a:prstDash val="solid"/>
          </a:ln>
        </p:spPr>
      </p:sp>
      <p:sp>
        <p:nvSpPr>
          <p:cNvPr id="8" name="Text 6"/>
          <p:cNvSpPr/>
          <p:nvPr/>
        </p:nvSpPr>
        <p:spPr>
          <a:xfrm>
            <a:off x="594360" y="4736592"/>
            <a:ext cx="8138160" cy="320040"/>
          </a:xfrm>
          <a:prstGeom prst="rect">
            <a:avLst/>
          </a:prstGeom>
          <a:noFill/>
          <a:ln/>
        </p:spPr>
        <p:txBody>
          <a:bodyPr wrap="square" lIns="0" tIns="0" rIns="0" bIns="0" rtlCol="0" anchor="ctr"/>
          <a:lstStyle/>
          <a:p>
            <a:pPr algn="ctr" indent="0" marL="0">
              <a:buNone/>
            </a:pPr>
            <a:r>
              <a:rPr lang="en-US" sz="1000" dirty="0">
                <a:solidFill>
                  <a:srgbClr val="6E7681"/>
                </a:solidFill>
              </a:rPr>
              <a:t>Svelte 5  ·  Supabase  ·  Netlify  ·  OpenRouter  ·  $50/mo  ·  guessthemodel.com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GuessTheModel — Pitch &amp; Build Brief</dc:title>
  <dc:subject>PptxGenJS Presentation</dc:subject>
  <dc:creator>PptxGenJS</dc:creator>
  <cp:lastModifiedBy>PptxGenJS</cp:lastModifiedBy>
  <cp:revision>1</cp:revision>
  <dcterms:created xsi:type="dcterms:W3CDTF">2026-06-10T20:14:43Z</dcterms:created>
  <dcterms:modified xsi:type="dcterms:W3CDTF">2026-06-10T20:14:43Z</dcterms:modified>
</cp:coreProperties>
</file>